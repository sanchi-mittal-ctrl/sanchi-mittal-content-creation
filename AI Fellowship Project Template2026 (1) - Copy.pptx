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8" r:id="rId2"/>
    <p:sldId id="257" r:id="rId3"/>
    <p:sldId id="258" r:id="rId4"/>
    <p:sldId id="259" r:id="rId5"/>
    <p:sldId id="269" r:id="rId6"/>
    <p:sldId id="271" r:id="rId7"/>
    <p:sldId id="260" r:id="rId8"/>
    <p:sldId id="261" r:id="rId9"/>
    <p:sldId id="262" r:id="rId10"/>
    <p:sldId id="263" r:id="rId11"/>
    <p:sldId id="264" r:id="rId12"/>
    <p:sldId id="272" r:id="rId13"/>
    <p:sldId id="273" r:id="rId14"/>
    <p:sldId id="265" r:id="rId15"/>
    <p:sldId id="266" r:id="rId16"/>
  </p:sldIdLst>
  <p:sldSz cx="9144000" cy="5143500" type="screen16x9"/>
  <p:notesSz cx="5143500" cy="9144000"/>
  <p:custDataLst>
    <p:tags r:id="rId1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5" d="100"/>
          <a:sy n="125" d="100"/>
        </p:scale>
        <p:origin x="226" y="226"/>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chi Mittal" userId="15d91f2016c46ecf" providerId="LiveId" clId="{30C5C858-71CC-48C3-A4E3-595877C9F1D2}"/>
    <pc:docChg chg="undo custSel addSld delSld modSld sldOrd">
      <pc:chgData name="sanchi Mittal" userId="15d91f2016c46ecf" providerId="LiveId" clId="{30C5C858-71CC-48C3-A4E3-595877C9F1D2}" dt="2026-04-12T21:47:24.528" v="738"/>
      <pc:docMkLst>
        <pc:docMk/>
      </pc:docMkLst>
      <pc:sldChg chg="modSp mod">
        <pc:chgData name="sanchi Mittal" userId="15d91f2016c46ecf" providerId="LiveId" clId="{30C5C858-71CC-48C3-A4E3-595877C9F1D2}" dt="2026-04-12T20:48:50.948" v="84" actId="948"/>
        <pc:sldMkLst>
          <pc:docMk/>
          <pc:sldMk cId="0" sldId="258"/>
        </pc:sldMkLst>
        <pc:spChg chg="mod">
          <ac:chgData name="sanchi Mittal" userId="15d91f2016c46ecf" providerId="LiveId" clId="{30C5C858-71CC-48C3-A4E3-595877C9F1D2}" dt="2026-04-12T20:48:50.948" v="84" actId="948"/>
          <ac:spMkLst>
            <pc:docMk/>
            <pc:sldMk cId="0" sldId="258"/>
            <ac:spMk id="7" creationId="{38849028-F25C-7DA0-DE56-0DC142EECABD}"/>
          </ac:spMkLst>
        </pc:spChg>
      </pc:sldChg>
      <pc:sldChg chg="modSp mod">
        <pc:chgData name="sanchi Mittal" userId="15d91f2016c46ecf" providerId="LiveId" clId="{30C5C858-71CC-48C3-A4E3-595877C9F1D2}" dt="2026-04-12T20:59:16.627" v="222" actId="20577"/>
        <pc:sldMkLst>
          <pc:docMk/>
          <pc:sldMk cId="0" sldId="259"/>
        </pc:sldMkLst>
        <pc:spChg chg="mod">
          <ac:chgData name="sanchi Mittal" userId="15d91f2016c46ecf" providerId="LiveId" clId="{30C5C858-71CC-48C3-A4E3-595877C9F1D2}" dt="2026-04-12T20:58:45.367" v="220" actId="1076"/>
          <ac:spMkLst>
            <pc:docMk/>
            <pc:sldMk cId="0" sldId="259"/>
            <ac:spMk id="4" creationId="{00000000-0000-0000-0000-000000000000}"/>
          </ac:spMkLst>
        </pc:spChg>
        <pc:spChg chg="mod">
          <ac:chgData name="sanchi Mittal" userId="15d91f2016c46ecf" providerId="LiveId" clId="{30C5C858-71CC-48C3-A4E3-595877C9F1D2}" dt="2026-04-12T20:59:16.627" v="222" actId="20577"/>
          <ac:spMkLst>
            <pc:docMk/>
            <pc:sldMk cId="0" sldId="259"/>
            <ac:spMk id="6" creationId="{EE76AC24-5CB7-D860-6A01-E6D8ABD38610}"/>
          </ac:spMkLst>
        </pc:spChg>
        <pc:picChg chg="mod">
          <ac:chgData name="sanchi Mittal" userId="15d91f2016c46ecf" providerId="LiveId" clId="{30C5C858-71CC-48C3-A4E3-595877C9F1D2}" dt="2026-04-12T20:58:55.982" v="221" actId="14100"/>
          <ac:picMkLst>
            <pc:docMk/>
            <pc:sldMk cId="0" sldId="259"/>
            <ac:picMk id="3" creationId="{327B2E24-A610-1C01-FCDD-9B6B67A72E49}"/>
          </ac:picMkLst>
        </pc:picChg>
      </pc:sldChg>
      <pc:sldChg chg="addSp delSp modSp mod ord">
        <pc:chgData name="sanchi Mittal" userId="15d91f2016c46ecf" providerId="LiveId" clId="{30C5C858-71CC-48C3-A4E3-595877C9F1D2}" dt="2026-04-12T21:09:51.503" v="454" actId="1076"/>
        <pc:sldMkLst>
          <pc:docMk/>
          <pc:sldMk cId="0" sldId="260"/>
        </pc:sldMkLst>
        <pc:spChg chg="add del mod">
          <ac:chgData name="sanchi Mittal" userId="15d91f2016c46ecf" providerId="LiveId" clId="{30C5C858-71CC-48C3-A4E3-595877C9F1D2}" dt="2026-04-12T21:01:21.558" v="246"/>
          <ac:spMkLst>
            <pc:docMk/>
            <pc:sldMk cId="0" sldId="260"/>
            <ac:spMk id="3" creationId="{065E1FC3-3BAF-A0AF-04E7-67A92E5DA6E6}"/>
          </ac:spMkLst>
        </pc:spChg>
        <pc:spChg chg="mod">
          <ac:chgData name="sanchi Mittal" userId="15d91f2016c46ecf" providerId="LiveId" clId="{30C5C858-71CC-48C3-A4E3-595877C9F1D2}" dt="2026-04-12T21:07:01.200" v="435" actId="1076"/>
          <ac:spMkLst>
            <pc:docMk/>
            <pc:sldMk cId="0" sldId="260"/>
            <ac:spMk id="4" creationId="{00000000-0000-0000-0000-000000000000}"/>
          </ac:spMkLst>
        </pc:spChg>
        <pc:spChg chg="mod">
          <ac:chgData name="sanchi Mittal" userId="15d91f2016c46ecf" providerId="LiveId" clId="{30C5C858-71CC-48C3-A4E3-595877C9F1D2}" dt="2026-04-12T21:07:24.461" v="441" actId="1076"/>
          <ac:spMkLst>
            <pc:docMk/>
            <pc:sldMk cId="0" sldId="260"/>
            <ac:spMk id="5" creationId="{00000000-0000-0000-0000-000000000000}"/>
          </ac:spMkLst>
        </pc:spChg>
        <pc:spChg chg="add">
          <ac:chgData name="sanchi Mittal" userId="15d91f2016c46ecf" providerId="LiveId" clId="{30C5C858-71CC-48C3-A4E3-595877C9F1D2}" dt="2026-04-12T21:01:58.399" v="248"/>
          <ac:spMkLst>
            <pc:docMk/>
            <pc:sldMk cId="0" sldId="260"/>
            <ac:spMk id="6" creationId="{E1ABA73A-4713-6EA9-B9B0-5CCDD7555371}"/>
          </ac:spMkLst>
        </pc:spChg>
        <pc:spChg chg="add mod">
          <ac:chgData name="sanchi Mittal" userId="15d91f2016c46ecf" providerId="LiveId" clId="{30C5C858-71CC-48C3-A4E3-595877C9F1D2}" dt="2026-04-12T21:09:51.503" v="454" actId="1076"/>
          <ac:spMkLst>
            <pc:docMk/>
            <pc:sldMk cId="0" sldId="260"/>
            <ac:spMk id="7" creationId="{D41E78A3-75E4-496C-5C6B-8E0CC7B5E422}"/>
          </ac:spMkLst>
        </pc:spChg>
        <pc:picChg chg="del">
          <ac:chgData name="sanchi Mittal" userId="15d91f2016c46ecf" providerId="LiveId" clId="{30C5C858-71CC-48C3-A4E3-595877C9F1D2}" dt="2026-04-12T21:06:50.901" v="434" actId="478"/>
          <ac:picMkLst>
            <pc:docMk/>
            <pc:sldMk cId="0" sldId="260"/>
            <ac:picMk id="8" creationId="{F1F49F94-4102-44CC-056B-FA1BB4DA8DA6}"/>
          </ac:picMkLst>
        </pc:picChg>
      </pc:sldChg>
      <pc:sldChg chg="addSp modSp mod">
        <pc:chgData name="sanchi Mittal" userId="15d91f2016c46ecf" providerId="LiveId" clId="{30C5C858-71CC-48C3-A4E3-595877C9F1D2}" dt="2026-04-12T21:36:54.027" v="644" actId="14100"/>
        <pc:sldMkLst>
          <pc:docMk/>
          <pc:sldMk cId="0" sldId="261"/>
        </pc:sldMkLst>
        <pc:spChg chg="add mod">
          <ac:chgData name="sanchi Mittal" userId="15d91f2016c46ecf" providerId="LiveId" clId="{30C5C858-71CC-48C3-A4E3-595877C9F1D2}" dt="2026-04-12T21:13:16.088" v="479" actId="1076"/>
          <ac:spMkLst>
            <pc:docMk/>
            <pc:sldMk cId="0" sldId="261"/>
            <ac:spMk id="3" creationId="{9E87B15F-6E04-DB8B-4F88-943F29AF14E6}"/>
          </ac:spMkLst>
        </pc:spChg>
        <pc:spChg chg="mod">
          <ac:chgData name="sanchi Mittal" userId="15d91f2016c46ecf" providerId="LiveId" clId="{30C5C858-71CC-48C3-A4E3-595877C9F1D2}" dt="2026-04-12T21:13:01.863" v="476" actId="1076"/>
          <ac:spMkLst>
            <pc:docMk/>
            <pc:sldMk cId="0" sldId="261"/>
            <ac:spMk id="9" creationId="{00000000-0000-0000-0000-000000000000}"/>
          </ac:spMkLst>
        </pc:spChg>
        <pc:spChg chg="mod">
          <ac:chgData name="sanchi Mittal" userId="15d91f2016c46ecf" providerId="LiveId" clId="{30C5C858-71CC-48C3-A4E3-595877C9F1D2}" dt="2026-04-12T21:12:31.466" v="470" actId="1076"/>
          <ac:spMkLst>
            <pc:docMk/>
            <pc:sldMk cId="0" sldId="261"/>
            <ac:spMk id="10" creationId="{00000000-0000-0000-0000-000000000000}"/>
          </ac:spMkLst>
        </pc:spChg>
        <pc:spChg chg="mod">
          <ac:chgData name="sanchi Mittal" userId="15d91f2016c46ecf" providerId="LiveId" clId="{30C5C858-71CC-48C3-A4E3-595877C9F1D2}" dt="2026-04-12T21:13:27.927" v="481" actId="20577"/>
          <ac:spMkLst>
            <pc:docMk/>
            <pc:sldMk cId="0" sldId="261"/>
            <ac:spMk id="13" creationId="{00000000-0000-0000-0000-000000000000}"/>
          </ac:spMkLst>
        </pc:spChg>
        <pc:spChg chg="mod">
          <ac:chgData name="sanchi Mittal" userId="15d91f2016c46ecf" providerId="LiveId" clId="{30C5C858-71CC-48C3-A4E3-595877C9F1D2}" dt="2026-04-12T21:35:15.676" v="560" actId="20577"/>
          <ac:spMkLst>
            <pc:docMk/>
            <pc:sldMk cId="0" sldId="261"/>
            <ac:spMk id="17" creationId="{00000000-0000-0000-0000-000000000000}"/>
          </ac:spMkLst>
        </pc:spChg>
        <pc:spChg chg="mod">
          <ac:chgData name="sanchi Mittal" userId="15d91f2016c46ecf" providerId="LiveId" clId="{30C5C858-71CC-48C3-A4E3-595877C9F1D2}" dt="2026-04-12T21:35:40.983" v="634" actId="20577"/>
          <ac:spMkLst>
            <pc:docMk/>
            <pc:sldMk cId="0" sldId="261"/>
            <ac:spMk id="21" creationId="{00000000-0000-0000-0000-000000000000}"/>
          </ac:spMkLst>
        </pc:spChg>
        <pc:spChg chg="add mod">
          <ac:chgData name="sanchi Mittal" userId="15d91f2016c46ecf" providerId="LiveId" clId="{30C5C858-71CC-48C3-A4E3-595877C9F1D2}" dt="2026-04-12T21:14:05.756" v="489" actId="1076"/>
          <ac:spMkLst>
            <pc:docMk/>
            <pc:sldMk cId="0" sldId="261"/>
            <ac:spMk id="22" creationId="{11F96A14-C0E2-B3D3-41B1-7F8749D2CF7A}"/>
          </ac:spMkLst>
        </pc:spChg>
        <pc:spChg chg="add mod">
          <ac:chgData name="sanchi Mittal" userId="15d91f2016c46ecf" providerId="LiveId" clId="{30C5C858-71CC-48C3-A4E3-595877C9F1D2}" dt="2026-04-12T21:36:54.027" v="644" actId="14100"/>
          <ac:spMkLst>
            <pc:docMk/>
            <pc:sldMk cId="0" sldId="261"/>
            <ac:spMk id="24" creationId="{3940DD73-0551-F783-8305-36607D435127}"/>
          </ac:spMkLst>
        </pc:spChg>
        <pc:spChg chg="add mod">
          <ac:chgData name="sanchi Mittal" userId="15d91f2016c46ecf" providerId="LiveId" clId="{30C5C858-71CC-48C3-A4E3-595877C9F1D2}" dt="2026-04-12T21:36:44.577" v="643" actId="14100"/>
          <ac:spMkLst>
            <pc:docMk/>
            <pc:sldMk cId="0" sldId="261"/>
            <ac:spMk id="26" creationId="{69AE8DA8-7181-8656-33F6-4B24DFE444F3}"/>
          </ac:spMkLst>
        </pc:spChg>
      </pc:sldChg>
      <pc:sldChg chg="addSp modSp mod">
        <pc:chgData name="sanchi Mittal" userId="15d91f2016c46ecf" providerId="LiveId" clId="{30C5C858-71CC-48C3-A4E3-595877C9F1D2}" dt="2026-04-12T21:40:50.076" v="688" actId="14100"/>
        <pc:sldMkLst>
          <pc:docMk/>
          <pc:sldMk cId="0" sldId="262"/>
        </pc:sldMkLst>
        <pc:spChg chg="mod">
          <ac:chgData name="sanchi Mittal" userId="15d91f2016c46ecf" providerId="LiveId" clId="{30C5C858-71CC-48C3-A4E3-595877C9F1D2}" dt="2026-04-12T21:40:21.428" v="679" actId="1076"/>
          <ac:spMkLst>
            <pc:docMk/>
            <pc:sldMk cId="0" sldId="262"/>
            <ac:spMk id="10" creationId="{00000000-0000-0000-0000-000000000000}"/>
          </ac:spMkLst>
        </pc:spChg>
        <pc:spChg chg="mod">
          <ac:chgData name="sanchi Mittal" userId="15d91f2016c46ecf" providerId="LiveId" clId="{30C5C858-71CC-48C3-A4E3-595877C9F1D2}" dt="2026-04-12T21:39:50.523" v="670" actId="20577"/>
          <ac:spMkLst>
            <pc:docMk/>
            <pc:sldMk cId="0" sldId="262"/>
            <ac:spMk id="11" creationId="{00000000-0000-0000-0000-000000000000}"/>
          </ac:spMkLst>
        </pc:spChg>
        <pc:spChg chg="mod">
          <ac:chgData name="sanchi Mittal" userId="15d91f2016c46ecf" providerId="LiveId" clId="{30C5C858-71CC-48C3-A4E3-595877C9F1D2}" dt="2026-04-12T21:38:28.856" v="658" actId="1076"/>
          <ac:spMkLst>
            <pc:docMk/>
            <pc:sldMk cId="0" sldId="262"/>
            <ac:spMk id="14" creationId="{00000000-0000-0000-0000-000000000000}"/>
          </ac:spMkLst>
        </pc:spChg>
        <pc:spChg chg="mod">
          <ac:chgData name="sanchi Mittal" userId="15d91f2016c46ecf" providerId="LiveId" clId="{30C5C858-71CC-48C3-A4E3-595877C9F1D2}" dt="2026-04-12T21:38:33.335" v="659" actId="1076"/>
          <ac:spMkLst>
            <pc:docMk/>
            <pc:sldMk cId="0" sldId="262"/>
            <ac:spMk id="15" creationId="{00000000-0000-0000-0000-000000000000}"/>
          </ac:spMkLst>
        </pc:spChg>
        <pc:spChg chg="mod">
          <ac:chgData name="sanchi Mittal" userId="15d91f2016c46ecf" providerId="LiveId" clId="{30C5C858-71CC-48C3-A4E3-595877C9F1D2}" dt="2026-04-12T21:40:28.413" v="680" actId="1076"/>
          <ac:spMkLst>
            <pc:docMk/>
            <pc:sldMk cId="0" sldId="262"/>
            <ac:spMk id="19" creationId="{00000000-0000-0000-0000-000000000000}"/>
          </ac:spMkLst>
        </pc:spChg>
        <pc:spChg chg="mod">
          <ac:chgData name="sanchi Mittal" userId="15d91f2016c46ecf" providerId="LiveId" clId="{30C5C858-71CC-48C3-A4E3-595877C9F1D2}" dt="2026-04-12T21:40:31.206" v="681" actId="1076"/>
          <ac:spMkLst>
            <pc:docMk/>
            <pc:sldMk cId="0" sldId="262"/>
            <ac:spMk id="20" creationId="{00000000-0000-0000-0000-000000000000}"/>
          </ac:spMkLst>
        </pc:spChg>
        <pc:picChg chg="add mod">
          <ac:chgData name="sanchi Mittal" userId="15d91f2016c46ecf" providerId="LiveId" clId="{30C5C858-71CC-48C3-A4E3-595877C9F1D2}" dt="2026-04-12T21:38:43.330" v="661" actId="14100"/>
          <ac:picMkLst>
            <pc:docMk/>
            <pc:sldMk cId="0" sldId="262"/>
            <ac:picMk id="3" creationId="{84014D80-82AB-BC26-756C-9B648215B1A0}"/>
          </ac:picMkLst>
        </pc:picChg>
        <pc:picChg chg="add mod">
          <ac:chgData name="sanchi Mittal" userId="15d91f2016c46ecf" providerId="LiveId" clId="{30C5C858-71CC-48C3-A4E3-595877C9F1D2}" dt="2026-04-12T21:40:40.030" v="685" actId="14100"/>
          <ac:picMkLst>
            <pc:docMk/>
            <pc:sldMk cId="0" sldId="262"/>
            <ac:picMk id="8" creationId="{0DEA3EFF-E22E-B592-8B2D-239C13D2D06A}"/>
          </ac:picMkLst>
        </pc:picChg>
        <pc:picChg chg="add mod">
          <ac:chgData name="sanchi Mittal" userId="15d91f2016c46ecf" providerId="LiveId" clId="{30C5C858-71CC-48C3-A4E3-595877C9F1D2}" dt="2026-04-12T21:40:50.076" v="688" actId="14100"/>
          <ac:picMkLst>
            <pc:docMk/>
            <pc:sldMk cId="0" sldId="262"/>
            <ac:picMk id="22" creationId="{7E0F08F9-86DF-9264-CE37-3B415753BD61}"/>
          </ac:picMkLst>
        </pc:picChg>
      </pc:sldChg>
      <pc:sldChg chg="addSp modSp mod">
        <pc:chgData name="sanchi Mittal" userId="15d91f2016c46ecf" providerId="LiveId" clId="{30C5C858-71CC-48C3-A4E3-595877C9F1D2}" dt="2026-04-12T21:44:00.806" v="704" actId="948"/>
        <pc:sldMkLst>
          <pc:docMk/>
          <pc:sldMk cId="0" sldId="264"/>
        </pc:sldMkLst>
        <pc:spChg chg="add mod">
          <ac:chgData name="sanchi Mittal" userId="15d91f2016c46ecf" providerId="LiveId" clId="{30C5C858-71CC-48C3-A4E3-595877C9F1D2}" dt="2026-04-12T21:44:00.806" v="704" actId="948"/>
          <ac:spMkLst>
            <pc:docMk/>
            <pc:sldMk cId="0" sldId="264"/>
            <ac:spMk id="3" creationId="{55BBE57B-E44F-894E-7EC5-F6609779AB09}"/>
          </ac:spMkLst>
        </pc:spChg>
        <pc:spChg chg="mod">
          <ac:chgData name="sanchi Mittal" userId="15d91f2016c46ecf" providerId="LiveId" clId="{30C5C858-71CC-48C3-A4E3-595877C9F1D2}" dt="2026-04-12T21:42:33.643" v="695" actId="20577"/>
          <ac:spMkLst>
            <pc:docMk/>
            <pc:sldMk cId="0" sldId="264"/>
            <ac:spMk id="14" creationId="{00000000-0000-0000-0000-000000000000}"/>
          </ac:spMkLst>
        </pc:spChg>
      </pc:sldChg>
      <pc:sldChg chg="addSp modSp mod">
        <pc:chgData name="sanchi Mittal" userId="15d91f2016c46ecf" providerId="LiveId" clId="{30C5C858-71CC-48C3-A4E3-595877C9F1D2}" dt="2026-04-12T21:47:24.528" v="738"/>
        <pc:sldMkLst>
          <pc:docMk/>
          <pc:sldMk cId="0" sldId="265"/>
        </pc:sldMkLst>
        <pc:spChg chg="add mod">
          <ac:chgData name="sanchi Mittal" userId="15d91f2016c46ecf" providerId="LiveId" clId="{30C5C858-71CC-48C3-A4E3-595877C9F1D2}" dt="2026-04-12T21:47:24.528" v="738"/>
          <ac:spMkLst>
            <pc:docMk/>
            <pc:sldMk cId="0" sldId="265"/>
            <ac:spMk id="5" creationId="{1D5CFD07-9CDC-32DC-0818-3B294A211D1D}"/>
          </ac:spMkLst>
        </pc:spChg>
        <pc:spChg chg="mod">
          <ac:chgData name="sanchi Mittal" userId="15d91f2016c46ecf" providerId="LiveId" clId="{30C5C858-71CC-48C3-A4E3-595877C9F1D2}" dt="2026-04-12T21:45:38.068" v="719" actId="20577"/>
          <ac:spMkLst>
            <pc:docMk/>
            <pc:sldMk cId="0" sldId="265"/>
            <ac:spMk id="14" creationId="{00000000-0000-0000-0000-000000000000}"/>
          </ac:spMkLst>
        </pc:spChg>
      </pc:sldChg>
      <pc:sldChg chg="modSp mod">
        <pc:chgData name="sanchi Mittal" userId="15d91f2016c46ecf" providerId="LiveId" clId="{30C5C858-71CC-48C3-A4E3-595877C9F1D2}" dt="2026-04-12T20:45:07.397" v="72" actId="20577"/>
        <pc:sldMkLst>
          <pc:docMk/>
          <pc:sldMk cId="121223606" sldId="268"/>
        </pc:sldMkLst>
        <pc:spChg chg="mod">
          <ac:chgData name="sanchi Mittal" userId="15d91f2016c46ecf" providerId="LiveId" clId="{30C5C858-71CC-48C3-A4E3-595877C9F1D2}" dt="2026-04-12T20:44:41.438" v="24" actId="20577"/>
          <ac:spMkLst>
            <pc:docMk/>
            <pc:sldMk cId="121223606" sldId="268"/>
            <ac:spMk id="42" creationId="{2E9FAC26-1E84-D690-0FD4-B1A364AF40DE}"/>
          </ac:spMkLst>
        </pc:spChg>
        <pc:spChg chg="mod">
          <ac:chgData name="sanchi Mittal" userId="15d91f2016c46ecf" providerId="LiveId" clId="{30C5C858-71CC-48C3-A4E3-595877C9F1D2}" dt="2026-04-12T20:44:56.316" v="57" actId="20577"/>
          <ac:spMkLst>
            <pc:docMk/>
            <pc:sldMk cId="121223606" sldId="268"/>
            <ac:spMk id="43" creationId="{B84F91E2-C42E-10B3-A03A-88AA58AF1258}"/>
          </ac:spMkLst>
        </pc:spChg>
        <pc:spChg chg="mod">
          <ac:chgData name="sanchi Mittal" userId="15d91f2016c46ecf" providerId="LiveId" clId="{30C5C858-71CC-48C3-A4E3-595877C9F1D2}" dt="2026-04-12T20:45:07.397" v="72" actId="20577"/>
          <ac:spMkLst>
            <pc:docMk/>
            <pc:sldMk cId="121223606" sldId="268"/>
            <ac:spMk id="68" creationId="{A541DFB6-306C-CD3E-24BD-6D7131F87B73}"/>
          </ac:spMkLst>
        </pc:spChg>
      </pc:sldChg>
      <pc:sldChg chg="addSp modSp new mod">
        <pc:chgData name="sanchi Mittal" userId="15d91f2016c46ecf" providerId="LiveId" clId="{30C5C858-71CC-48C3-A4E3-595877C9F1D2}" dt="2026-04-12T20:57:41.040" v="213" actId="403"/>
        <pc:sldMkLst>
          <pc:docMk/>
          <pc:sldMk cId="3833690969" sldId="269"/>
        </pc:sldMkLst>
        <pc:spChg chg="add mod">
          <ac:chgData name="sanchi Mittal" userId="15d91f2016c46ecf" providerId="LiveId" clId="{30C5C858-71CC-48C3-A4E3-595877C9F1D2}" dt="2026-04-12T20:57:41.040" v="213" actId="403"/>
          <ac:spMkLst>
            <pc:docMk/>
            <pc:sldMk cId="3833690969" sldId="269"/>
            <ac:spMk id="3" creationId="{2F7D665A-D6C2-D908-E37F-EC24ECA71CD6}"/>
          </ac:spMkLst>
        </pc:spChg>
      </pc:sldChg>
      <pc:sldChg chg="new del">
        <pc:chgData name="sanchi Mittal" userId="15d91f2016c46ecf" providerId="LiveId" clId="{30C5C858-71CC-48C3-A4E3-595877C9F1D2}" dt="2026-04-12T21:04:30.183" v="272" actId="2696"/>
        <pc:sldMkLst>
          <pc:docMk/>
          <pc:sldMk cId="14104553" sldId="270"/>
        </pc:sldMkLst>
      </pc:sldChg>
      <pc:sldChg chg="delSp modSp add mod">
        <pc:chgData name="sanchi Mittal" userId="15d91f2016c46ecf" providerId="LiveId" clId="{30C5C858-71CC-48C3-A4E3-595877C9F1D2}" dt="2026-04-12T21:11:08.977" v="467" actId="478"/>
        <pc:sldMkLst>
          <pc:docMk/>
          <pc:sldMk cId="946607891" sldId="271"/>
        </pc:sldMkLst>
        <pc:spChg chg="mod">
          <ac:chgData name="sanchi Mittal" userId="15d91f2016c46ecf" providerId="LiveId" clId="{30C5C858-71CC-48C3-A4E3-595877C9F1D2}" dt="2026-04-12T21:10:04.375" v="455" actId="1076"/>
          <ac:spMkLst>
            <pc:docMk/>
            <pc:sldMk cId="946607891" sldId="271"/>
            <ac:spMk id="4" creationId="{1A00619C-8AF6-799F-209C-84E03A73D3C3}"/>
          </ac:spMkLst>
        </pc:spChg>
        <pc:spChg chg="mod">
          <ac:chgData name="sanchi Mittal" userId="15d91f2016c46ecf" providerId="LiveId" clId="{30C5C858-71CC-48C3-A4E3-595877C9F1D2}" dt="2026-04-12T21:11:07.220" v="466" actId="1076"/>
          <ac:spMkLst>
            <pc:docMk/>
            <pc:sldMk cId="946607891" sldId="271"/>
            <ac:spMk id="7" creationId="{9A339450-073C-CE84-FF22-1C9F9A811FC9}"/>
          </ac:spMkLst>
        </pc:spChg>
        <pc:picChg chg="del mod">
          <ac:chgData name="sanchi Mittal" userId="15d91f2016c46ecf" providerId="LiveId" clId="{30C5C858-71CC-48C3-A4E3-595877C9F1D2}" dt="2026-04-12T21:11:08.977" v="467" actId="478"/>
          <ac:picMkLst>
            <pc:docMk/>
            <pc:sldMk cId="946607891" sldId="271"/>
            <ac:picMk id="8" creationId="{4026738B-17F3-0CF0-3755-91370158BD21}"/>
          </ac:picMkLst>
        </pc:picChg>
      </pc:sldChg>
      <pc:sldChg chg="delSp modSp add mod">
        <pc:chgData name="sanchi Mittal" userId="15d91f2016c46ecf" providerId="LiveId" clId="{30C5C858-71CC-48C3-A4E3-595877C9F1D2}" dt="2026-04-12T21:44:34.046" v="706" actId="1076"/>
        <pc:sldMkLst>
          <pc:docMk/>
          <pc:sldMk cId="1490707709" sldId="272"/>
        </pc:sldMkLst>
        <pc:spChg chg="mod">
          <ac:chgData name="sanchi Mittal" userId="15d91f2016c46ecf" providerId="LiveId" clId="{30C5C858-71CC-48C3-A4E3-595877C9F1D2}" dt="2026-04-12T21:44:34.046" v="706" actId="1076"/>
          <ac:spMkLst>
            <pc:docMk/>
            <pc:sldMk cId="1490707709" sldId="272"/>
            <ac:spMk id="3" creationId="{B5207887-D28A-C283-5B39-8F1244EF285F}"/>
          </ac:spMkLst>
        </pc:spChg>
        <pc:picChg chg="del">
          <ac:chgData name="sanchi Mittal" userId="15d91f2016c46ecf" providerId="LiveId" clId="{30C5C858-71CC-48C3-A4E3-595877C9F1D2}" dt="2026-04-12T21:42:50.665" v="697" actId="478"/>
          <ac:picMkLst>
            <pc:docMk/>
            <pc:sldMk cId="1490707709" sldId="272"/>
            <ac:picMk id="20" creationId="{8D79C736-1F61-A5B1-57BB-97BD82E2E896}"/>
          </ac:picMkLst>
        </pc:picChg>
      </pc:sldChg>
      <pc:sldChg chg="modSp add mod ord">
        <pc:chgData name="sanchi Mittal" userId="15d91f2016c46ecf" providerId="LiveId" clId="{30C5C858-71CC-48C3-A4E3-595877C9F1D2}" dt="2026-04-12T21:46:57.659" v="734"/>
        <pc:sldMkLst>
          <pc:docMk/>
          <pc:sldMk cId="67680218" sldId="273"/>
        </pc:sldMkLst>
        <pc:spChg chg="mod">
          <ac:chgData name="sanchi Mittal" userId="15d91f2016c46ecf" providerId="LiveId" clId="{30C5C858-71CC-48C3-A4E3-595877C9F1D2}" dt="2026-04-12T21:46:48.462" v="732" actId="20577"/>
          <ac:spMkLst>
            <pc:docMk/>
            <pc:sldMk cId="67680218" sldId="273"/>
            <ac:spMk id="5" creationId="{8F34FB07-61C6-12A1-19B5-AFA82A1FBE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E15C7-FB28-CF36-D258-3A4A5C6C2A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11EFEB-82CA-D5D5-423D-3401BB857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AC3929-AA7A-E9C8-10CC-23EFC96D22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26D1A9-53BD-316C-A977-7B9E6182F55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075963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90E2E-521D-93C8-6059-C5CA57E3D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23B94C-C62D-FB77-FC8B-36F2735C6E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3501B9-5487-F88F-7761-A406064F04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4D51BC-31EF-8580-6765-E4EC2540621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522554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EEF4A-F52D-1B3F-96A4-0A3EE72B4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F833A-A77F-C072-C623-E87EF3027E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83CDD5-F7ED-D027-AD3F-3C14D5CAAD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8449BD-4C44-6C9A-565A-E01A1EC7D8E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7199979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54979" y="3806607"/>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Sanchi Mittal</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sanchiwork28@gmail.com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Uma Maheshwari</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82801"/>
            <a:ext cx="5002346" cy="3970318"/>
          </a:xfrm>
          <a:prstGeom prst="rect">
            <a:avLst/>
          </a:prstGeom>
          <a:noFill/>
        </p:spPr>
        <p:txBody>
          <a:bodyPr wrap="square">
            <a:spAutoFit/>
          </a:bodyPr>
          <a:lstStyle/>
          <a:p>
            <a:pPr>
              <a:spcBef>
                <a:spcPts val="600"/>
              </a:spcBef>
              <a:spcAft>
                <a:spcPts val="600"/>
              </a:spcAft>
              <a:buNone/>
            </a:pPr>
            <a:r>
              <a:rPr lang="en-US" sz="1050" dirty="0" err="1"/>
              <a:t>ContentAlchemy</a:t>
            </a:r>
            <a:r>
              <a:rPr lang="en-US" sz="1050" dirty="0"/>
              <a:t> is an AI-powered marketing content generation bot built using Microsoft Copilot Studio, designed to automate and enhance the creation of marketing copy and product descriptions for e-commerce businesses operating in the Indian market. The project was developed and tested using the Amazon India 2025 Sales Dataset, providing a real-world foundation for the bot's outputs.</a:t>
            </a:r>
          </a:p>
          <a:p>
            <a:pPr>
              <a:spcBef>
                <a:spcPts val="600"/>
              </a:spcBef>
              <a:spcAft>
                <a:spcPts val="600"/>
              </a:spcAft>
              <a:buNone/>
            </a:pPr>
            <a:r>
              <a:rPr lang="en-US" sz="1050" dirty="0"/>
              <a:t>The objective of this project is to address a common pain point in e-commerce — the time-intensive, inconsistent, and resource-heavy process of manually writing product descriptions and promotional content at scale. </a:t>
            </a:r>
            <a:r>
              <a:rPr lang="en-US" sz="1050" dirty="0" err="1"/>
              <a:t>ContentAlchemy</a:t>
            </a:r>
            <a:r>
              <a:rPr lang="en-US" sz="1050" dirty="0"/>
              <a:t> solves this by enabling any brand, seller, or platform to generate contextually relevant, market-specific content instantly.</a:t>
            </a:r>
          </a:p>
          <a:p>
            <a:pPr>
              <a:spcBef>
                <a:spcPts val="600"/>
              </a:spcBef>
              <a:spcAft>
                <a:spcPts val="600"/>
              </a:spcAft>
              <a:buNone/>
            </a:pPr>
            <a:r>
              <a:rPr lang="en-US" sz="1050" b="1" dirty="0"/>
              <a:t>Tools and Technologies Used:</a:t>
            </a:r>
            <a:r>
              <a:rPr lang="en-US" sz="1050" dirty="0"/>
              <a:t> Microsoft Copilot Studio, Microsoft Excel (for dataset preparation and analysis), and Power BI (for sales insights and trend visualization).</a:t>
            </a:r>
          </a:p>
          <a:p>
            <a:pPr>
              <a:spcBef>
                <a:spcPts val="600"/>
              </a:spcBef>
              <a:spcAft>
                <a:spcPts val="600"/>
              </a:spcAft>
              <a:buNone/>
            </a:pPr>
            <a:r>
              <a:rPr lang="en-US" sz="1050" b="1" dirty="0"/>
              <a:t>Expected Outcomes:</a:t>
            </a:r>
            <a:r>
              <a:rPr lang="en-US" sz="1050" dirty="0"/>
              <a:t> A functional conversational bot capable of generating ready-to-use marketing copy and product descriptions tailored to the Indian e-commerce context, reducing content creation time significantly while maintaining quality and relevance.</a:t>
            </a:r>
          </a:p>
          <a:p>
            <a:pPr>
              <a:spcBef>
                <a:spcPts val="600"/>
              </a:spcBef>
              <a:spcAft>
                <a:spcPts val="600"/>
              </a:spcAft>
              <a:buNone/>
            </a:pPr>
            <a:r>
              <a:rPr lang="en-US" sz="1050" b="1" dirty="0"/>
              <a:t>Key Highlight:</a:t>
            </a:r>
            <a:r>
              <a:rPr lang="en-US" sz="1050" dirty="0"/>
              <a:t> While the bot was trained and validated on Amazon India 2025 data, its architecture is platform-agnostic — making it deployable across any Indian e-commerce brand or marketplace, which is a key differentiator from single-platform content tools.</a:t>
            </a:r>
          </a:p>
          <a:p>
            <a:pPr marL="228600" indent="-228600">
              <a:spcAft>
                <a:spcPts val="800"/>
              </a:spcAft>
              <a:buFont typeface="Arial" panose="020B0604020202020204" pitchFamily="34" charset="0"/>
              <a:buChar char="•"/>
              <a:tabLst>
                <a:tab pos="4229100" algn="ctr"/>
              </a:tabLst>
            </a:pPr>
            <a:endParaRPr lang="en-US" sz="1800" dirty="0">
              <a:latin typeface="Lato" panose="020F0502020204030203" pitchFamily="34" charset="0"/>
              <a:ea typeface="+mn-lt"/>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6638306" y="670663"/>
            <a:ext cx="2458193" cy="3947240"/>
          </a:xfrm>
          <a:prstGeom prst="rect">
            <a:avLst/>
          </a:prstGeom>
        </p:spPr>
      </p:pic>
      <p:sp>
        <p:nvSpPr>
          <p:cNvPr id="4" name="Text 2"/>
          <p:cNvSpPr/>
          <p:nvPr/>
        </p:nvSpPr>
        <p:spPr>
          <a:xfrm>
            <a:off x="120623" y="45120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0623" y="955196"/>
            <a:ext cx="6321741" cy="4262705"/>
          </a:xfrm>
          <a:prstGeom prst="rect">
            <a:avLst/>
          </a:prstGeom>
          <a:noFill/>
        </p:spPr>
        <p:txBody>
          <a:bodyPr wrap="square">
            <a:spAutoFit/>
          </a:bodyPr>
          <a:lstStyle/>
          <a:p>
            <a:pPr>
              <a:spcBef>
                <a:spcPts val="600"/>
              </a:spcBef>
              <a:spcAft>
                <a:spcPts val="600"/>
              </a:spcAft>
              <a:buNone/>
            </a:pPr>
            <a:r>
              <a:rPr lang="en-US" sz="1200" b="1" dirty="0"/>
              <a:t>Describe the core problem your project addresses:</a:t>
            </a:r>
            <a:r>
              <a:rPr lang="en-US" sz="1200" dirty="0"/>
              <a:t> E-commerce sellers on Amazon India generate marketing copy manually or use generic one-line AI prompts that produce vague, inconsistent, and unconvincing content. The core problem is that existing AI-generated marketing copy completely ignores the rich customer data already available — product prices, review ratings, review text, regional buyer locations, and delivery status — resulting in copy that feels generic, impersonal, and fails to convert browsers into buyers.</a:t>
            </a:r>
          </a:p>
          <a:p>
            <a:pPr>
              <a:spcBef>
                <a:spcPts val="600"/>
              </a:spcBef>
              <a:spcAft>
                <a:spcPts val="600"/>
              </a:spcAft>
              <a:buNone/>
            </a:pPr>
            <a:r>
              <a:rPr lang="en-US" sz="1200" b="1" dirty="0"/>
              <a:t>Explain why this problem is significant or challenging:</a:t>
            </a:r>
            <a:r>
              <a:rPr lang="en-US" sz="1200" dirty="0"/>
              <a:t> This problem is significant because marketing copy is the primary driver of purchase decisions in e-commerce. Poor copy directly translates to lower click-through rates, lower conversions, and lost revenue. The challenge is compounded by the sheer volume of content needed — a seller with 100 products across 5 categories needs hundreds of different captions, emails, and product descriptions, each tailored to different customer sentiments and regional audiences. Doing this manually is neither scalable nor sustainable.</a:t>
            </a:r>
          </a:p>
          <a:p>
            <a:pPr>
              <a:spcBef>
                <a:spcPts val="600"/>
              </a:spcBef>
              <a:spcAft>
                <a:spcPts val="600"/>
              </a:spcAft>
              <a:buNone/>
            </a:pPr>
            <a:r>
              <a:rPr lang="en-US" sz="1200" b="1" dirty="0"/>
              <a:t>Mention who is affected by this problem:</a:t>
            </a:r>
            <a:r>
              <a:rPr lang="en-US" sz="1200" dirty="0"/>
              <a:t> The primary users affected are small and medium e-commerce sellers on Amazon India, Flipkart, and </a:t>
            </a:r>
            <a:r>
              <a:rPr lang="en-US" sz="1200" dirty="0" err="1"/>
              <a:t>Meesho</a:t>
            </a:r>
            <a:r>
              <a:rPr lang="en-US" sz="1200" dirty="0"/>
              <a:t> who lack dedicated marketing teams but need professional, conversion-focused content daily. Secondary users include marketing executives at larger e-commerce companies who need to generate high-volume content quickly during festive sale periods and product launches. Digital marketing students and content creators learning AI-powered marketing are also directly impacted.</a:t>
            </a:r>
          </a:p>
          <a:p>
            <a:pPr marL="228600" indent="-228600">
              <a:spcAft>
                <a:spcPts val="800"/>
              </a:spcAft>
              <a:buFont typeface="Arial" panose="020B0604020202020204" pitchFamily="34" charset="0"/>
              <a:buChar char="•"/>
              <a:tabLst>
                <a:tab pos="4229100" algn="ctr"/>
              </a:tabLst>
            </a:pPr>
            <a:endParaRPr lang="en-US" dirty="0">
              <a:latin typeface="Lato" panose="020F0502020204030203" pitchFamily="34" charset="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7D665A-D6C2-D908-E37F-EC24ECA71CD6}"/>
              </a:ext>
            </a:extLst>
          </p:cNvPr>
          <p:cNvSpPr txBox="1"/>
          <p:nvPr/>
        </p:nvSpPr>
        <p:spPr>
          <a:xfrm>
            <a:off x="231568" y="635937"/>
            <a:ext cx="5563589" cy="4093428"/>
          </a:xfrm>
          <a:prstGeom prst="rect">
            <a:avLst/>
          </a:prstGeom>
          <a:noFill/>
        </p:spPr>
        <p:txBody>
          <a:bodyPr wrap="square">
            <a:spAutoFit/>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State limitations of existing approaches or tools:</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The limitations of existing approaches are as follows. First, generic AI prompts such as "Write an ad for a Cookware Set" produce output that scores only 2.1 out of 5 on effectiveness metrics because they contain no product-specific data, no regional personalization, and no sentiment awareness. Second, no existing tool provides a standardized, repeatable framework for transforming customer review data directly into marketing copy. Third, current AI tools treat negative reviews as problems to ignore rather than opportunities to reframe into brand-positive content. Fourth, there is no measurable quality benchmark for AI-generated marketing copy, making it impossible to evaluate output effectiveness objectively.</a:t>
            </a:r>
          </a:p>
          <a:p>
            <a:pPr marL="0" marR="0" lvl="0" indent="0" algn="just" defTabSz="914400" rtl="0" eaLnBrk="1" fontAlgn="auto" latinLnBrk="0" hangingPunct="1">
              <a:lnSpc>
                <a:spcPct val="100000"/>
              </a:lnSpc>
              <a:spcBef>
                <a:spcPts val="600"/>
              </a:spcBef>
              <a:spcAft>
                <a:spcPts val="60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Define the scope and boundaries of the problem clearly:</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This project addresses the problem specifically within the context of Amazon India 2025 e-commerce data. The scope covers 5 product categories — Electronics, Beauty, Clothing, Books, and Home and Kitchen — across 28 Indian states. The problem is approached through structured prompt engineering, A/B testing, and AI chatbot automation. The project does not address real-time data integration, predictive pricing models, or automated publishing to e-commerce platforms. The solution is designed as a scalable framework that any seller can adopt, not a one-time analysis</a:t>
            </a: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600"/>
              </a:spcBef>
              <a:spcAft>
                <a:spcPts val="60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3690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155BD18-276C-1893-233F-3F6B16E4D706}"/>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A00619C-8AF6-799F-209C-84E03A73D3C3}"/>
              </a:ext>
            </a:extLst>
          </p:cNvPr>
          <p:cNvSpPr/>
          <p:nvPr/>
        </p:nvSpPr>
        <p:spPr>
          <a:xfrm>
            <a:off x="0" y="34447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a:extLst>
              <a:ext uri="{FF2B5EF4-FFF2-40B4-BE49-F238E27FC236}">
                <a16:creationId xmlns:a16="http://schemas.microsoft.com/office/drawing/2014/main" id="{681040A5-7853-07A3-122F-8DBF3D748B45}"/>
              </a:ext>
            </a:extLst>
          </p:cNvPr>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a:extLst>
              <a:ext uri="{FF2B5EF4-FFF2-40B4-BE49-F238E27FC236}">
                <a16:creationId xmlns:a16="http://schemas.microsoft.com/office/drawing/2014/main" id="{C42202B7-2551-9BFB-46D8-72AB25386ADF}"/>
              </a:ext>
            </a:extLst>
          </p:cNvPr>
          <p:cNvSpPr/>
          <p:nvPr/>
        </p:nvSpPr>
        <p:spPr>
          <a:xfrm>
            <a:off x="125486" y="1046013"/>
            <a:ext cx="4416154" cy="3474720"/>
          </a:xfrm>
          <a:prstGeom prst="rect">
            <a:avLst/>
          </a:prstGeom>
          <a:noFill/>
          <a:ln/>
        </p:spPr>
        <p:txBody>
          <a:bodyPr wrap="square" rtlCol="0" anchor="t"/>
          <a:lstStyle/>
          <a:p>
            <a:pPr marL="0" indent="0">
              <a:buNone/>
            </a:pPr>
            <a:r>
              <a:rPr lang="en-US" sz="800" dirty="0">
                <a:solidFill>
                  <a:srgbClr val="1A1A2E"/>
                </a:solidFill>
                <a:latin typeface="Lato" panose="020F0502020204030203" pitchFamily="34" charset="0"/>
                <a:ea typeface="Calibri" pitchFamily="34" charset="-122"/>
                <a:cs typeface="Arial" panose="020B0604020202020204" pitchFamily="34" charset="0"/>
              </a:rPr>
              <a:t>[</a:t>
            </a:r>
            <a:endParaRPr lang="en-US" sz="800" dirty="0">
              <a:latin typeface="Lato" panose="020F0502020204030203" pitchFamily="34" charset="0"/>
              <a:cs typeface="Arial" panose="020B0604020202020204" pitchFamily="34" charset="0"/>
            </a:endParaRPr>
          </a:p>
        </p:txBody>
      </p:sp>
      <p:sp>
        <p:nvSpPr>
          <p:cNvPr id="7" name="Rectangle 2">
            <a:extLst>
              <a:ext uri="{FF2B5EF4-FFF2-40B4-BE49-F238E27FC236}">
                <a16:creationId xmlns:a16="http://schemas.microsoft.com/office/drawing/2014/main" id="{9A339450-073C-CE84-FF22-1C9F9A811FC9}"/>
              </a:ext>
            </a:extLst>
          </p:cNvPr>
          <p:cNvSpPr>
            <a:spLocks noChangeArrowheads="1"/>
          </p:cNvSpPr>
          <p:nvPr/>
        </p:nvSpPr>
        <p:spPr bwMode="auto">
          <a:xfrm>
            <a:off x="79248" y="773902"/>
            <a:ext cx="7516486" cy="4693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Describe your proposed solution:</a:t>
            </a:r>
            <a:r>
              <a:rPr kumimoji="0" lang="en-US" altLang="en-US" sz="900" b="0" i="0" u="none" strike="noStrike" cap="none" normalizeH="0" baseline="0" dirty="0">
                <a:ln>
                  <a:noFill/>
                </a:ln>
                <a:solidFill>
                  <a:schemeClr val="tx1"/>
                </a:solidFill>
                <a:effectLst/>
                <a:latin typeface="Arial" panose="020B0604020202020204" pitchFamily="34" charset="0"/>
              </a:rPr>
              <a:t> </a:t>
            </a:r>
            <a:r>
              <a:rPr kumimoji="0" lang="en-US" altLang="en-US" sz="900" b="0" i="0" u="none" strike="noStrike" cap="none" normalizeH="0" baseline="0" dirty="0" err="1">
                <a:ln>
                  <a:noFill/>
                </a:ln>
                <a:solidFill>
                  <a:schemeClr val="tx1"/>
                </a:solidFill>
                <a:effectLst/>
                <a:latin typeface="Arial" panose="020B0604020202020204" pitchFamily="34" charset="0"/>
              </a:rPr>
              <a:t>ContentAlchemy</a:t>
            </a:r>
            <a:r>
              <a:rPr kumimoji="0" lang="en-US" altLang="en-US" sz="900" b="0" i="0" u="none" strike="noStrike" cap="none" normalizeH="0" baseline="0" dirty="0">
                <a:ln>
                  <a:noFill/>
                </a:ln>
                <a:solidFill>
                  <a:schemeClr val="tx1"/>
                </a:solidFill>
                <a:effectLst/>
                <a:latin typeface="Arial" panose="020B0604020202020204" pitchFamily="34" charset="0"/>
              </a:rPr>
              <a:t>: AI-Driven </a:t>
            </a:r>
            <a:r>
              <a:rPr kumimoji="0" lang="en-US" altLang="en-US" sz="900" b="0" i="0" u="none" strike="noStrike" cap="none" normalizeH="0" baseline="0" dirty="0" err="1">
                <a:ln>
                  <a:noFill/>
                </a:ln>
                <a:solidFill>
                  <a:schemeClr val="tx1"/>
                </a:solidFill>
                <a:effectLst/>
                <a:latin typeface="Arial" panose="020B0604020202020204" pitchFamily="34" charset="0"/>
              </a:rPr>
              <a:t>AdCopy</a:t>
            </a:r>
            <a:r>
              <a:rPr kumimoji="0" lang="en-US" altLang="en-US" sz="900" b="0" i="0" u="none" strike="noStrike" cap="none" normalizeH="0" baseline="0" dirty="0">
                <a:ln>
                  <a:noFill/>
                </a:ln>
                <a:solidFill>
                  <a:schemeClr val="tx1"/>
                </a:solidFill>
                <a:effectLst/>
                <a:latin typeface="Arial" panose="020B0604020202020204" pitchFamily="34" charset="0"/>
              </a:rPr>
              <a:t> Genius proposes a five-pillar structured prompt engineering framework that transforms raw e-commerce customer data into professional, conversion-oriented marketing copy automatically. Instead of using generic one-line prompts, every prompt is built using five structured components — Role, Context, Task, Format, and Tone — and filled with real data from the Amazon India 2025 Sales Dataset including the product name, customer state, unit price, review rating, and exact review text.</a:t>
            </a: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Explain how your approach solves the identified problem:</a:t>
            </a:r>
            <a:r>
              <a:rPr kumimoji="0" lang="en-US" altLang="en-US" sz="900" b="0" i="0" u="none" strike="noStrike" cap="none" normalizeH="0" baseline="0" dirty="0">
                <a:ln>
                  <a:noFill/>
                </a:ln>
                <a:solidFill>
                  <a:schemeClr val="tx1"/>
                </a:solidFill>
                <a:effectLst/>
                <a:latin typeface="Arial" panose="020B0604020202020204" pitchFamily="34" charset="0"/>
              </a:rPr>
              <a:t> The structured framework directly solves the core problem by replacing guesswork with data. When a customer in Maharashtra buys a Cookware Set for Rs.12,195 and rates it 5 stars saying "Fantastic quality!", the framework automatically builds a prompt that tells the AI exactly who the buyer is, what they paid, what they felt, and what type of content to generate. The output is a personalized Instagram caption that mentions Maharashtra, uses Rs.12,195 as a price hook, quotes the customer review as social proof, and closes with a strong call-to-action. This scored 4.8 out of 5 on effectiveness metrics compared to 2.3 for a generic prompt on the same product.</a:t>
            </a: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Mention the methodology, tools, and steps followed:</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900" b="0" i="0" u="none" strike="noStrike" cap="none" normalizeH="0" baseline="0" dirty="0">
                <a:ln>
                  <a:noFill/>
                </a:ln>
                <a:solidFill>
                  <a:schemeClr val="tx1"/>
                </a:solidFill>
                <a:effectLst/>
                <a:latin typeface="Arial" panose="020B0604020202020204" pitchFamily="34" charset="0"/>
              </a:rPr>
              <a:t>The project followed the ETL methodology across three phases.</a:t>
            </a: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900" b="0" i="0" u="none" strike="noStrike" cap="none" normalizeH="0" baseline="0" dirty="0">
                <a:ln>
                  <a:noFill/>
                </a:ln>
                <a:solidFill>
                  <a:schemeClr val="tx1"/>
                </a:solidFill>
                <a:effectLst/>
                <a:latin typeface="Arial" panose="020B0604020202020204" pitchFamily="34" charset="0"/>
              </a:rPr>
              <a:t>In the Extract phase, the Amazon India 2025 Sales Dataset was sourced from Kaggle and validated using Python and pandas. The dataset was confirmed to have zero null values, zero duplicate rows, and mathematically verified Total Sales figures across all 15,000 rows.</a:t>
            </a: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900" b="0" i="0" u="none" strike="noStrike" cap="none" normalizeH="0" baseline="0" dirty="0">
                <a:ln>
                  <a:noFill/>
                </a:ln>
                <a:solidFill>
                  <a:schemeClr val="tx1"/>
                </a:solidFill>
                <a:effectLst/>
                <a:latin typeface="Arial" panose="020B0604020202020204" pitchFamily="34" charset="0"/>
              </a:rPr>
              <a:t>In the Transform phase, 5 representative test rows were selected covering all product categories. Ten structured prompts and 10 generic prompts were developed and fed into Microsoft Copilot. All outputs were scored on 4 KPIs — Contextual Accuracy, Sentiment Alignment, CTA Strength, and Personalization — using the custom Prompt Effectiveness Score rubric documented in the AB Scoring Sheet.</a:t>
            </a: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900" b="0" i="0" u="none" strike="noStrike" cap="none" normalizeH="0" baseline="0" dirty="0">
                <a:ln>
                  <a:noFill/>
                </a:ln>
                <a:solidFill>
                  <a:schemeClr val="tx1"/>
                </a:solidFill>
                <a:effectLst/>
                <a:latin typeface="Arial" panose="020B0604020202020204" pitchFamily="34" charset="0"/>
              </a:rPr>
              <a:t>In the Load phase, all outputs and scores were loaded into the Power BI Output Log Excel file and connected to a Power BI dashboard with 6 visuals that visualize prompt performance, sentiment distribution, and regional content demand. A Microsoft Copilot Studio chatbot was built to automate the entire workflow, collecting 7 user inputs and generating professional marketing copy in under 60 seconds.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chemeClr val="tx1"/>
                </a:solidFill>
                <a:effectLst/>
                <a:latin typeface="Arial" panose="020B0604020202020204" pitchFamily="34" charset="0"/>
              </a:rPr>
            </a:b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946607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76718" y="62276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832622" y="1213104"/>
            <a:ext cx="6500866" cy="3474720"/>
          </a:xfrm>
          <a:prstGeom prst="rect">
            <a:avLst/>
          </a:prstGeom>
          <a:noFill/>
          <a:ln/>
        </p:spPr>
        <p:txBody>
          <a:bodyPr wrap="square" rtlCol="0" anchor="t"/>
          <a:lstStyle/>
          <a:p>
            <a:pPr marL="0" indent="0">
              <a:buNone/>
            </a:pPr>
            <a:endParaRPr lang="en-US" sz="800" dirty="0">
              <a:latin typeface="Lato" panose="020F0502020204030203" pitchFamily="34" charset="0"/>
              <a:cs typeface="Arial" panose="020B0604020202020204" pitchFamily="34" charset="0"/>
            </a:endParaRPr>
          </a:p>
        </p:txBody>
      </p:sp>
      <p:sp>
        <p:nvSpPr>
          <p:cNvPr id="7" name="Rectangle 2">
            <a:extLst>
              <a:ext uri="{FF2B5EF4-FFF2-40B4-BE49-F238E27FC236}">
                <a16:creationId xmlns:a16="http://schemas.microsoft.com/office/drawing/2014/main" id="{D41E78A3-75E4-496C-5C6B-8E0CC7B5E422}"/>
              </a:ext>
            </a:extLst>
          </p:cNvPr>
          <p:cNvSpPr>
            <a:spLocks noChangeArrowheads="1"/>
          </p:cNvSpPr>
          <p:nvPr/>
        </p:nvSpPr>
        <p:spPr bwMode="auto">
          <a:xfrm>
            <a:off x="447879" y="1148137"/>
            <a:ext cx="5242678"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Highlight the key benefits and innovations compared to existing methods:</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ts val="600"/>
              </a:spcBef>
              <a:spcAft>
                <a:spcPts val="600"/>
              </a:spcAft>
              <a:buClrTx/>
              <a:buSzTx/>
              <a:buFont typeface="Wingdings" panose="05000000000000000000" pitchFamily="2" charset="2"/>
              <a:buChar char="ü"/>
              <a:tabLst/>
            </a:pPr>
            <a:r>
              <a:rPr kumimoji="0" lang="en-US" altLang="en-US" sz="900" b="0" i="0" u="none" strike="noStrike" cap="none" normalizeH="0" baseline="0" dirty="0">
                <a:ln>
                  <a:noFill/>
                </a:ln>
                <a:solidFill>
                  <a:schemeClr val="tx1"/>
                </a:solidFill>
                <a:effectLst/>
                <a:latin typeface="Arial" panose="020B0604020202020204" pitchFamily="34" charset="0"/>
              </a:rPr>
              <a:t>The first key innovation is the Prompt Effectiveness Score — a measurable, reproducible quality benchmark for AI-generated marketing copy that does not exist in any current tool or framework. Structured prompts scored 4.7 out of 5 versus 2.1 for generic prompts, a 124% improvement proven through rigorous A/B testing.</a:t>
            </a:r>
          </a:p>
          <a:p>
            <a:pPr marL="171450" marR="0" lvl="0" indent="-171450" algn="l" defTabSz="914400" rtl="0" eaLnBrk="0" fontAlgn="base" latinLnBrk="0" hangingPunct="0">
              <a:lnSpc>
                <a:spcPct val="100000"/>
              </a:lnSpc>
              <a:spcBef>
                <a:spcPts val="600"/>
              </a:spcBef>
              <a:spcAft>
                <a:spcPts val="600"/>
              </a:spcAft>
              <a:buClrTx/>
              <a:buSzTx/>
              <a:buFont typeface="Wingdings" panose="05000000000000000000" pitchFamily="2" charset="2"/>
              <a:buChar char="ü"/>
              <a:tabLst/>
            </a:pPr>
            <a:r>
              <a:rPr kumimoji="0" lang="en-US" altLang="en-US" sz="900" b="0" i="0" u="none" strike="noStrike" cap="none" normalizeH="0" baseline="0" dirty="0">
                <a:ln>
                  <a:noFill/>
                </a:ln>
                <a:solidFill>
                  <a:schemeClr val="tx1"/>
                </a:solidFill>
                <a:effectLst/>
                <a:latin typeface="Arial" panose="020B0604020202020204" pitchFamily="34" charset="0"/>
              </a:rPr>
              <a:t>The second innovation is the Negative Review Reframing Engine. Unlike all existing approaches that treat 1-star reviews as liabilities to hide, </a:t>
            </a:r>
            <a:r>
              <a:rPr kumimoji="0" lang="en-US" altLang="en-US" sz="900" b="0" i="0" u="none" strike="noStrike" cap="none" normalizeH="0" baseline="0" dirty="0" err="1">
                <a:ln>
                  <a:noFill/>
                </a:ln>
                <a:solidFill>
                  <a:schemeClr val="tx1"/>
                </a:solidFill>
                <a:effectLst/>
                <a:latin typeface="Arial" panose="020B0604020202020204" pitchFamily="34" charset="0"/>
              </a:rPr>
              <a:t>ContentAlchemy</a:t>
            </a:r>
            <a:r>
              <a:rPr kumimoji="0" lang="en-US" altLang="en-US" sz="900" b="0" i="0" u="none" strike="noStrike" cap="none" normalizeH="0" baseline="0" dirty="0">
                <a:ln>
                  <a:noFill/>
                </a:ln>
                <a:solidFill>
                  <a:schemeClr val="tx1"/>
                </a:solidFill>
                <a:effectLst/>
                <a:latin typeface="Arial" panose="020B0604020202020204" pitchFamily="34" charset="0"/>
              </a:rPr>
              <a:t> engineers specific prompts that take negative review text and generate brand-positive customer recovery emails and quality assurance messages. A "Waste of money" review becomes an empathetic, solution-focused email offering a full refund and a loyalty discount.</a:t>
            </a:r>
          </a:p>
          <a:p>
            <a:pPr marL="171450" marR="0" lvl="0" indent="-171450" algn="l" defTabSz="914400" rtl="0" eaLnBrk="0" fontAlgn="base" latinLnBrk="0" hangingPunct="0">
              <a:lnSpc>
                <a:spcPct val="100000"/>
              </a:lnSpc>
              <a:spcBef>
                <a:spcPts val="600"/>
              </a:spcBef>
              <a:spcAft>
                <a:spcPts val="600"/>
              </a:spcAft>
              <a:buClrTx/>
              <a:buSzTx/>
              <a:buFont typeface="Wingdings" panose="05000000000000000000" pitchFamily="2" charset="2"/>
              <a:buChar char="ü"/>
              <a:tabLst/>
            </a:pPr>
            <a:r>
              <a:rPr kumimoji="0" lang="en-US" altLang="en-US" sz="900" b="0" i="0" u="none" strike="noStrike" cap="none" normalizeH="0" baseline="0" dirty="0">
                <a:ln>
                  <a:noFill/>
                </a:ln>
                <a:solidFill>
                  <a:schemeClr val="tx1"/>
                </a:solidFill>
                <a:effectLst/>
                <a:latin typeface="Arial" panose="020B0604020202020204" pitchFamily="34" charset="0"/>
              </a:rPr>
              <a:t>The third innovation is regional personalization at scale. By feeding the customer's Indian state into every prompt, the framework generates copy that references regional cultural context — Maharashtrian cooking for a Cookware Set, regional fashion preferences for Clothing — making every output feel hand-crafted even though it is fully automated.</a:t>
            </a:r>
          </a:p>
          <a:p>
            <a:pPr marL="171450" marR="0" lvl="0" indent="-171450" algn="l" defTabSz="914400" rtl="0" eaLnBrk="0" fontAlgn="base" latinLnBrk="0" hangingPunct="0">
              <a:lnSpc>
                <a:spcPct val="100000"/>
              </a:lnSpc>
              <a:spcBef>
                <a:spcPts val="600"/>
              </a:spcBef>
              <a:spcAft>
                <a:spcPts val="600"/>
              </a:spcAft>
              <a:buClrTx/>
              <a:buSzTx/>
              <a:buFont typeface="Wingdings" panose="05000000000000000000" pitchFamily="2" charset="2"/>
              <a:buChar char="ü"/>
              <a:tabLst/>
            </a:pPr>
            <a:r>
              <a:rPr kumimoji="0" lang="en-US" altLang="en-US" sz="900" b="0" i="0" u="none" strike="noStrike" cap="none" normalizeH="0" baseline="0" dirty="0">
                <a:ln>
                  <a:noFill/>
                </a:ln>
                <a:solidFill>
                  <a:schemeClr val="tx1"/>
                </a:solidFill>
                <a:effectLst/>
                <a:latin typeface="Arial" panose="020B0604020202020204" pitchFamily="34" charset="0"/>
              </a:rPr>
              <a:t>The fourth innovation is the </a:t>
            </a:r>
            <a:r>
              <a:rPr kumimoji="0" lang="en-US" altLang="en-US" sz="900" b="0" i="0" u="none" strike="noStrike" cap="none" normalizeH="0" baseline="0" dirty="0" err="1">
                <a:ln>
                  <a:noFill/>
                </a:ln>
                <a:solidFill>
                  <a:schemeClr val="tx1"/>
                </a:solidFill>
                <a:effectLst/>
                <a:latin typeface="Arial" panose="020B0604020202020204" pitchFamily="34" charset="0"/>
              </a:rPr>
              <a:t>ContentAlchemy</a:t>
            </a:r>
            <a:r>
              <a:rPr kumimoji="0" lang="en-US" altLang="en-US" sz="900" b="0" i="0" u="none" strike="noStrike" cap="none" normalizeH="0" baseline="0" dirty="0">
                <a:ln>
                  <a:noFill/>
                </a:ln>
                <a:solidFill>
                  <a:schemeClr val="tx1"/>
                </a:solidFill>
                <a:effectLst/>
                <a:latin typeface="Arial" panose="020B0604020202020204" pitchFamily="34" charset="0"/>
              </a:rPr>
              <a:t> Bot built on Microsoft Copilot Studio. This no-code chatbot makes the entire framework accessible to any seller with zero technical knowledge. A user simply answers 7 questions and receives professional, data-driven marketing copy in under 60 seconds — reducing content creation time by over 90% compared to manual methods.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120496" y="1719792"/>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715968" y="1247432"/>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3" name="TextBox 2">
            <a:extLst>
              <a:ext uri="{FF2B5EF4-FFF2-40B4-BE49-F238E27FC236}">
                <a16:creationId xmlns:a16="http://schemas.microsoft.com/office/drawing/2014/main" id="{9E87B15F-6E04-DB8B-4F88-943F29AF14E6}"/>
              </a:ext>
            </a:extLst>
          </p:cNvPr>
          <p:cNvSpPr txBox="1"/>
          <p:nvPr/>
        </p:nvSpPr>
        <p:spPr>
          <a:xfrm>
            <a:off x="326848" y="1661576"/>
            <a:ext cx="3840480" cy="1169551"/>
          </a:xfrm>
          <a:prstGeom prst="rect">
            <a:avLst/>
          </a:prstGeom>
          <a:noFill/>
        </p:spPr>
        <p:txBody>
          <a:bodyPr wrap="square">
            <a:spAutoFit/>
          </a:bodyPr>
          <a:lstStyle/>
          <a:p>
            <a:r>
              <a:rPr lang="en-US" sz="1400" dirty="0"/>
              <a:t>The primary data source is the Amazon India 2025 Sales Dataset, containing product listings, sales figures, categories, pricing, and performance metrics. This raw dataset was imported into Microsoft Excel for initial review and structuring.</a:t>
            </a:r>
            <a:endParaRPr lang="en-IN" sz="1400" dirty="0"/>
          </a:p>
        </p:txBody>
      </p:sp>
      <p:sp>
        <p:nvSpPr>
          <p:cNvPr id="22" name="TextBox 21">
            <a:extLst>
              <a:ext uri="{FF2B5EF4-FFF2-40B4-BE49-F238E27FC236}">
                <a16:creationId xmlns:a16="http://schemas.microsoft.com/office/drawing/2014/main" id="{11F96A14-C0E2-B3D3-41B1-7F8749D2CF7A}"/>
              </a:ext>
            </a:extLst>
          </p:cNvPr>
          <p:cNvSpPr txBox="1"/>
          <p:nvPr/>
        </p:nvSpPr>
        <p:spPr>
          <a:xfrm>
            <a:off x="4715968" y="1688407"/>
            <a:ext cx="4572000" cy="1200329"/>
          </a:xfrm>
          <a:prstGeom prst="rect">
            <a:avLst/>
          </a:prstGeom>
          <a:noFill/>
        </p:spPr>
        <p:txBody>
          <a:bodyPr wrap="square">
            <a:spAutoFit/>
          </a:bodyPr>
          <a:lstStyle/>
          <a:p>
            <a:r>
              <a:rPr lang="en-US" sz="1200" dirty="0"/>
              <a:t>The dataset was cleaned and preprocessed in Excel — handling missing values, standardizing category names, and filtering relevant fields. Power BI was then used to analyze sales trends, identify high-performing product categories, and visualize consumer demand patterns. These insights directly shaped the content templates and tone guidelines embedded in the bot.</a:t>
            </a:r>
            <a:endParaRPr lang="en-IN" sz="1200" dirty="0"/>
          </a:p>
        </p:txBody>
      </p:sp>
      <p:sp>
        <p:nvSpPr>
          <p:cNvPr id="24" name="TextBox 23">
            <a:extLst>
              <a:ext uri="{FF2B5EF4-FFF2-40B4-BE49-F238E27FC236}">
                <a16:creationId xmlns:a16="http://schemas.microsoft.com/office/drawing/2014/main" id="{3940DD73-0551-F783-8305-36607D435127}"/>
              </a:ext>
            </a:extLst>
          </p:cNvPr>
          <p:cNvSpPr txBox="1"/>
          <p:nvPr/>
        </p:nvSpPr>
        <p:spPr>
          <a:xfrm>
            <a:off x="120496" y="3395894"/>
            <a:ext cx="4402736" cy="1384995"/>
          </a:xfrm>
          <a:prstGeom prst="rect">
            <a:avLst/>
          </a:prstGeom>
          <a:noFill/>
        </p:spPr>
        <p:txBody>
          <a:bodyPr wrap="square">
            <a:spAutoFit/>
          </a:bodyPr>
          <a:lstStyle/>
          <a:p>
            <a:r>
              <a:rPr lang="en-US" sz="1200" dirty="0"/>
              <a:t>Microsoft Copilot Studio serves as the core engine of </a:t>
            </a:r>
            <a:r>
              <a:rPr lang="en-US" sz="1200" dirty="0" err="1"/>
              <a:t>ContentAlchemy</a:t>
            </a:r>
            <a:r>
              <a:rPr lang="en-US" sz="1200" dirty="0"/>
              <a:t>. The bot is configured with topic flows, prompt logic, and response templates informed by the data analysis. Copilot's natural language understanding enables the bot to accept flexible user inputs and return contextually appropriate content. Excel and Power BI feed the analytical backbone that makes the bot's outputs data-informed rather than purely generative.</a:t>
            </a:r>
            <a:endParaRPr lang="en-IN" sz="1200" dirty="0"/>
          </a:p>
        </p:txBody>
      </p:sp>
      <p:sp>
        <p:nvSpPr>
          <p:cNvPr id="26" name="TextBox 25">
            <a:extLst>
              <a:ext uri="{FF2B5EF4-FFF2-40B4-BE49-F238E27FC236}">
                <a16:creationId xmlns:a16="http://schemas.microsoft.com/office/drawing/2014/main" id="{69AE8DA8-7181-8656-33F6-4B24DFE444F3}"/>
              </a:ext>
            </a:extLst>
          </p:cNvPr>
          <p:cNvSpPr txBox="1"/>
          <p:nvPr/>
        </p:nvSpPr>
        <p:spPr>
          <a:xfrm>
            <a:off x="4840224" y="3475374"/>
            <a:ext cx="4183280" cy="1107996"/>
          </a:xfrm>
          <a:prstGeom prst="rect">
            <a:avLst/>
          </a:prstGeom>
          <a:noFill/>
        </p:spPr>
        <p:txBody>
          <a:bodyPr wrap="square">
            <a:spAutoFit/>
          </a:bodyPr>
          <a:lstStyle/>
          <a:p>
            <a:r>
              <a:rPr lang="en-US" sz="1100" dirty="0"/>
              <a:t>The final output is a conversational bot interface through which users input product details and receive generated marketing copy and product descriptions in real time. Supporting outputs include a Power BI dashboard summarizing Amazon India 2025 sales trends — providing visual context for the categories and market segments the bot is optimized for.</a:t>
            </a:r>
            <a:endParaRPr lang="en-IN"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65176" y="2234038"/>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dirty="0">
              <a:latin typeface="Lato" panose="020F0502020204030203" pitchFamily="34" charset="0"/>
            </a:endParaRPr>
          </a:p>
        </p:txBody>
      </p:sp>
      <p:sp>
        <p:nvSpPr>
          <p:cNvPr id="15" name="Text 13"/>
          <p:cNvSpPr/>
          <p:nvPr/>
        </p:nvSpPr>
        <p:spPr>
          <a:xfrm>
            <a:off x="3214116" y="2259016"/>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2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58483" y="2234038"/>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248996"/>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3 here — what this demo shows, key features, and results achieved.]</a:t>
            </a:r>
            <a:endParaRPr lang="en-US" sz="1600" dirty="0">
              <a:latin typeface="Lato" panose="020F0502020204030203" pitchFamily="34" charset="0"/>
              <a:cs typeface="Arial" panose="020B0604020202020204" pitchFamily="34" charset="0"/>
            </a:endParaRPr>
          </a:p>
        </p:txBody>
      </p:sp>
      <p:pic>
        <p:nvPicPr>
          <p:cNvPr id="3" name="Picture 2">
            <a:extLst>
              <a:ext uri="{FF2B5EF4-FFF2-40B4-BE49-F238E27FC236}">
                <a16:creationId xmlns:a16="http://schemas.microsoft.com/office/drawing/2014/main" id="{84014D80-82AB-BC26-756C-9B648215B1A0}"/>
              </a:ext>
            </a:extLst>
          </p:cNvPr>
          <p:cNvPicPr>
            <a:picLocks noChangeAspect="1"/>
          </p:cNvPicPr>
          <p:nvPr/>
        </p:nvPicPr>
        <p:blipFill>
          <a:blip r:embed="rId4"/>
          <a:stretch>
            <a:fillRect/>
          </a:stretch>
        </p:blipFill>
        <p:spPr>
          <a:xfrm>
            <a:off x="3355849" y="2733194"/>
            <a:ext cx="2514599" cy="2015589"/>
          </a:xfrm>
          <a:prstGeom prst="rect">
            <a:avLst/>
          </a:prstGeom>
        </p:spPr>
      </p:pic>
      <p:pic>
        <p:nvPicPr>
          <p:cNvPr id="8" name="Picture 7">
            <a:extLst>
              <a:ext uri="{FF2B5EF4-FFF2-40B4-BE49-F238E27FC236}">
                <a16:creationId xmlns:a16="http://schemas.microsoft.com/office/drawing/2014/main" id="{0DEA3EFF-E22E-B592-8B2D-239C13D2D06A}"/>
              </a:ext>
            </a:extLst>
          </p:cNvPr>
          <p:cNvPicPr>
            <a:picLocks noChangeAspect="1"/>
          </p:cNvPicPr>
          <p:nvPr/>
        </p:nvPicPr>
        <p:blipFill>
          <a:blip r:embed="rId5"/>
          <a:stretch>
            <a:fillRect/>
          </a:stretch>
        </p:blipFill>
        <p:spPr>
          <a:xfrm>
            <a:off x="6302503" y="2645518"/>
            <a:ext cx="2514599" cy="2017922"/>
          </a:xfrm>
          <a:prstGeom prst="rect">
            <a:avLst/>
          </a:prstGeom>
        </p:spPr>
      </p:pic>
      <p:pic>
        <p:nvPicPr>
          <p:cNvPr id="22" name="Picture 21">
            <a:extLst>
              <a:ext uri="{FF2B5EF4-FFF2-40B4-BE49-F238E27FC236}">
                <a16:creationId xmlns:a16="http://schemas.microsoft.com/office/drawing/2014/main" id="{7E0F08F9-86DF-9264-CE37-3B415753BD61}"/>
              </a:ext>
            </a:extLst>
          </p:cNvPr>
          <p:cNvPicPr>
            <a:picLocks noChangeAspect="1"/>
          </p:cNvPicPr>
          <p:nvPr/>
        </p:nvPicPr>
        <p:blipFill>
          <a:blip r:embed="rId6"/>
          <a:stretch>
            <a:fillRect/>
          </a:stretch>
        </p:blipFill>
        <p:spPr>
          <a:xfrm>
            <a:off x="499872" y="2571750"/>
            <a:ext cx="2426208" cy="2091690"/>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
        <p:nvSpPr>
          <p:cNvPr id="3" name="TextBox 2">
            <a:extLst>
              <a:ext uri="{FF2B5EF4-FFF2-40B4-BE49-F238E27FC236}">
                <a16:creationId xmlns:a16="http://schemas.microsoft.com/office/drawing/2014/main" id="{55BBE57B-E44F-894E-7EC5-F6609779AB09}"/>
              </a:ext>
            </a:extLst>
          </p:cNvPr>
          <p:cNvSpPr txBox="1"/>
          <p:nvPr/>
        </p:nvSpPr>
        <p:spPr>
          <a:xfrm>
            <a:off x="213360" y="971550"/>
            <a:ext cx="4887603" cy="3908762"/>
          </a:xfrm>
          <a:prstGeom prst="rect">
            <a:avLst/>
          </a:prstGeom>
          <a:noFill/>
        </p:spPr>
        <p:txBody>
          <a:bodyPr wrap="square">
            <a:spAutoFit/>
          </a:bodyPr>
          <a:lstStyle/>
          <a:p>
            <a:pPr>
              <a:spcBef>
                <a:spcPts val="600"/>
              </a:spcBef>
              <a:spcAft>
                <a:spcPts val="600"/>
              </a:spcAft>
              <a:buNone/>
            </a:pPr>
            <a:r>
              <a:rPr lang="en-US" sz="1200" dirty="0" err="1"/>
              <a:t>ContentAlchemy</a:t>
            </a:r>
            <a:r>
              <a:rPr lang="en-US" sz="1200" dirty="0"/>
              <a:t>: AI-Driven </a:t>
            </a:r>
            <a:r>
              <a:rPr lang="en-US" sz="1200" dirty="0" err="1"/>
              <a:t>AdCopy</a:t>
            </a:r>
            <a:r>
              <a:rPr lang="en-US" sz="1200" dirty="0"/>
              <a:t> Genius successfully demonstrated that structured prompt engineering transforms raw e-commerce data into high-quality, conversion-oriented marketing copy — dramatically outperforming generic AI prompting across every measured metric.</a:t>
            </a:r>
          </a:p>
          <a:p>
            <a:pPr>
              <a:spcBef>
                <a:spcPts val="600"/>
              </a:spcBef>
              <a:spcAft>
                <a:spcPts val="600"/>
              </a:spcAft>
              <a:buNone/>
            </a:pPr>
            <a:r>
              <a:rPr lang="en-US" sz="1200" dirty="0"/>
              <a:t>The project achieved all defined objectives. A validated Prompt Library of 10 structured templates was developed across 5 content types. The A/B testing framework proved that structured prompts score an average of 4.7/5 compared to 2.1/5 for generic prompts — a 124% improvement in Prompt Effectiveness Score. A working Microsoft Copilot Studio chatbot was built and successfully tested, automating the entire content generation workflow from data input to professional marketing output. A Power BI dashboard was developed to visualize performance analytics, sentiment distribution, and regional content demand across Indian states.</a:t>
            </a:r>
          </a:p>
          <a:p>
            <a:pPr>
              <a:spcBef>
                <a:spcPts val="600"/>
              </a:spcBef>
              <a:spcAft>
                <a:spcPts val="600"/>
              </a:spcAft>
              <a:buNone/>
            </a:pPr>
            <a:r>
              <a:rPr lang="en-US" sz="1200" dirty="0"/>
              <a:t>The project's unique Negative Review Reframing Engine successfully converted 1-star reviews into brand-positive customer recovery emails — turning a business liability into a trust-building asset. By applying the ETL methodology, raw Amazon India 2025 Sales Data was extracted, transformed into structured AI prompts, and loaded into actionable marketing outputs and analytics dashboards.</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A2503D8-F61E-EBA1-E720-42E873A081F0}"/>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B60FEAD6-C555-5ACD-CE79-6D20C4841AC0}"/>
              </a:ext>
            </a:extLst>
          </p:cNvPr>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a:extLst>
              <a:ext uri="{FF2B5EF4-FFF2-40B4-BE49-F238E27FC236}">
                <a16:creationId xmlns:a16="http://schemas.microsoft.com/office/drawing/2014/main" id="{1493694A-A064-F491-6315-C0C70B646698}"/>
              </a:ext>
            </a:extLst>
          </p:cNvPr>
          <p:cNvSpPr/>
          <p:nvPr/>
        </p:nvSpPr>
        <p:spPr>
          <a:xfrm>
            <a:off x="125486" y="1084927"/>
            <a:ext cx="4446513"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19" name="Text 17">
            <a:extLst>
              <a:ext uri="{FF2B5EF4-FFF2-40B4-BE49-F238E27FC236}">
                <a16:creationId xmlns:a16="http://schemas.microsoft.com/office/drawing/2014/main" id="{B72D9F92-606F-C9AC-FB44-E7B8FC165209}"/>
              </a:ext>
            </a:extLst>
          </p:cNvPr>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sp>
        <p:nvSpPr>
          <p:cNvPr id="3" name="TextBox 2">
            <a:extLst>
              <a:ext uri="{FF2B5EF4-FFF2-40B4-BE49-F238E27FC236}">
                <a16:creationId xmlns:a16="http://schemas.microsoft.com/office/drawing/2014/main" id="{B5207887-D28A-C283-5B39-8F1244EF285F}"/>
              </a:ext>
            </a:extLst>
          </p:cNvPr>
          <p:cNvSpPr txBox="1"/>
          <p:nvPr/>
        </p:nvSpPr>
        <p:spPr>
          <a:xfrm>
            <a:off x="175395" y="1084927"/>
            <a:ext cx="4572000" cy="1200329"/>
          </a:xfrm>
          <a:prstGeom prst="rect">
            <a:avLst/>
          </a:prstGeom>
          <a:noFill/>
        </p:spPr>
        <p:txBody>
          <a:bodyPr wrap="square">
            <a:spAutoFit/>
          </a:bodyPr>
          <a:lstStyle/>
          <a:p>
            <a:pPr>
              <a:spcBef>
                <a:spcPts val="600"/>
              </a:spcBef>
              <a:spcAft>
                <a:spcPts val="600"/>
              </a:spcAft>
              <a:buNone/>
            </a:pPr>
            <a:r>
              <a:rPr lang="en-US" sz="1200" dirty="0" err="1"/>
              <a:t>ContentAlchemy</a:t>
            </a:r>
            <a:r>
              <a:rPr lang="en-US" sz="1200" dirty="0"/>
              <a:t> adds measurable value to the e-commerce marketing domain by proving that AI-powered, data-driven content generation is not only possible but significantly more effective than manual or generic approaches — making professional marketing copy accessible, scalable, and efficient for any e-commerce business operating in the Indian market.</a:t>
            </a:r>
          </a:p>
        </p:txBody>
      </p:sp>
    </p:spTree>
    <p:custDataLst>
      <p:tags r:id="rId1"/>
    </p:custDataLst>
    <p:extLst>
      <p:ext uri="{BB962C8B-B14F-4D97-AF65-F5344CB8AC3E}">
        <p14:creationId xmlns:p14="http://schemas.microsoft.com/office/powerpoint/2010/main" val="1490707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176ED-B619-C8FD-B845-2FECE406C40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821FD20F-C7AA-0FBC-C981-34DAC9F12057}"/>
              </a:ext>
            </a:extLst>
          </p:cNvPr>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a:extLst>
              <a:ext uri="{FF2B5EF4-FFF2-40B4-BE49-F238E27FC236}">
                <a16:creationId xmlns:a16="http://schemas.microsoft.com/office/drawing/2014/main" id="{7FB9E89B-2694-CA33-EAA3-08DC3175EA71}"/>
              </a:ext>
            </a:extLst>
          </p:cNvPr>
          <p:cNvSpPr/>
          <p:nvPr/>
        </p:nvSpPr>
        <p:spPr>
          <a:xfrm>
            <a:off x="123247" y="1082104"/>
            <a:ext cx="4114800"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1B6EFF55-5D2F-81FB-C803-2D96E9DFE6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
        <p:nvSpPr>
          <p:cNvPr id="5" name="TextBox 4">
            <a:extLst>
              <a:ext uri="{FF2B5EF4-FFF2-40B4-BE49-F238E27FC236}">
                <a16:creationId xmlns:a16="http://schemas.microsoft.com/office/drawing/2014/main" id="{8F34FB07-61C6-12A1-19B5-AFA82A1FBEED}"/>
              </a:ext>
            </a:extLst>
          </p:cNvPr>
          <p:cNvSpPr txBox="1"/>
          <p:nvPr/>
        </p:nvSpPr>
        <p:spPr>
          <a:xfrm>
            <a:off x="333955" y="974824"/>
            <a:ext cx="4572000" cy="3631763"/>
          </a:xfrm>
          <a:prstGeom prst="rect">
            <a:avLst/>
          </a:prstGeom>
          <a:noFill/>
        </p:spPr>
        <p:txBody>
          <a:bodyPr wrap="square">
            <a:spAutoFit/>
          </a:bodyPr>
          <a:lstStyle/>
          <a:p>
            <a:pPr>
              <a:spcBef>
                <a:spcPts val="600"/>
              </a:spcBef>
              <a:spcAft>
                <a:spcPts val="600"/>
              </a:spcAft>
              <a:buNone/>
            </a:pPr>
            <a:r>
              <a:rPr lang="en-US" sz="1400" b="1" dirty="0"/>
              <a:t>1.Full Dataset Automation</a:t>
            </a:r>
            <a:r>
              <a:rPr lang="en-US" sz="1400" dirty="0"/>
              <a:t> Scale the </a:t>
            </a:r>
            <a:r>
              <a:rPr lang="en-US" sz="1400" dirty="0" err="1"/>
              <a:t>ContentAlchemy</a:t>
            </a:r>
            <a:r>
              <a:rPr lang="en-US" sz="1400" dirty="0"/>
              <a:t> Bot to process all 15000 rows from the Amazon 2025 dataset automatically, generating bulk marketing copy for entire product catalogues in minutes — eliminating manual content creation entirely for large-scale sellers.</a:t>
            </a:r>
          </a:p>
          <a:p>
            <a:pPr>
              <a:spcBef>
                <a:spcPts val="600"/>
              </a:spcBef>
              <a:spcAft>
                <a:spcPts val="600"/>
              </a:spcAft>
              <a:buNone/>
            </a:pPr>
            <a:r>
              <a:rPr lang="en-US" sz="1400" b="1" dirty="0"/>
              <a:t>2. WhatsApp Business API Integration</a:t>
            </a:r>
            <a:r>
              <a:rPr lang="en-US" sz="1400" dirty="0"/>
              <a:t> Integrate the chatbot with WhatsApp Business API, allowing small business owners and individual sellers to generate professional marketing copy directly from their phones without any technical knowledge or desktop software.</a:t>
            </a:r>
          </a:p>
          <a:p>
            <a:pPr>
              <a:spcBef>
                <a:spcPts val="600"/>
              </a:spcBef>
              <a:spcAft>
                <a:spcPts val="600"/>
              </a:spcAft>
              <a:buNone/>
            </a:pPr>
            <a:r>
              <a:rPr lang="en-US" sz="1400" b="1" dirty="0"/>
              <a:t>3. Multilingual Prompt Support</a:t>
            </a:r>
            <a:r>
              <a:rPr lang="en-US" sz="1400" dirty="0"/>
              <a:t> Expand the prompt framework to support regional Indian languages including Hindi, Tamil, Telugu, Bengali, and Marathi — enabling hyperlocal marketing campaigns that resonate more deeply with regional audiences.</a:t>
            </a:r>
          </a:p>
        </p:txBody>
      </p:sp>
    </p:spTree>
    <p:custDataLst>
      <p:tags r:id="rId1"/>
    </p:custDataLst>
    <p:extLst>
      <p:ext uri="{BB962C8B-B14F-4D97-AF65-F5344CB8AC3E}">
        <p14:creationId xmlns:p14="http://schemas.microsoft.com/office/powerpoint/2010/main" val="67680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
        <p:nvSpPr>
          <p:cNvPr id="5" name="TextBox 4">
            <a:extLst>
              <a:ext uri="{FF2B5EF4-FFF2-40B4-BE49-F238E27FC236}">
                <a16:creationId xmlns:a16="http://schemas.microsoft.com/office/drawing/2014/main" id="{1D5CFD07-9CDC-32DC-0818-3B294A211D1D}"/>
              </a:ext>
            </a:extLst>
          </p:cNvPr>
          <p:cNvSpPr txBox="1"/>
          <p:nvPr/>
        </p:nvSpPr>
        <p:spPr>
          <a:xfrm>
            <a:off x="333955" y="974824"/>
            <a:ext cx="4572000" cy="3847207"/>
          </a:xfrm>
          <a:prstGeom prst="rect">
            <a:avLst/>
          </a:prstGeom>
          <a:noFill/>
        </p:spPr>
        <p:txBody>
          <a:bodyPr wrap="square">
            <a:spAutoFit/>
          </a:bodyPr>
          <a:lstStyle/>
          <a:p>
            <a:pPr>
              <a:spcBef>
                <a:spcPts val="600"/>
              </a:spcBef>
              <a:spcAft>
                <a:spcPts val="600"/>
              </a:spcAft>
              <a:buNone/>
            </a:pPr>
            <a:r>
              <a:rPr lang="en-US" sz="1400" b="1" dirty="0"/>
              <a:t>4. Real-Time Sentiment Tracker in Power BI</a:t>
            </a:r>
            <a:r>
              <a:rPr lang="en-US" sz="1400" dirty="0"/>
              <a:t> Add a live sentiment trend analyzer that monitors how customer review sentiments change over time and automatically suggests updated prompt templates when negative trends are detected — making the system proactively adaptive.</a:t>
            </a:r>
          </a:p>
          <a:p>
            <a:pPr>
              <a:spcBef>
                <a:spcPts val="600"/>
              </a:spcBef>
              <a:spcAft>
                <a:spcPts val="600"/>
              </a:spcAft>
              <a:buNone/>
            </a:pPr>
            <a:r>
              <a:rPr lang="en-US" sz="1400" b="1" dirty="0"/>
              <a:t>5. Enterprise Deployment on Microsoft Teams</a:t>
            </a:r>
            <a:r>
              <a:rPr lang="en-US" sz="1400" dirty="0"/>
              <a:t> Deploy the </a:t>
            </a:r>
            <a:r>
              <a:rPr lang="en-US" sz="1400" dirty="0" err="1"/>
              <a:t>ContentAlchemy</a:t>
            </a:r>
            <a:r>
              <a:rPr lang="en-US" sz="1400" dirty="0"/>
              <a:t> Bot as a Microsoft Teams application for enterprise e-commerce marketing teams, allowing multiple users to generate, review, and publish marketing copy collaboratively within their existing workflow tools. </a:t>
            </a:r>
          </a:p>
          <a:p>
            <a:pPr>
              <a:spcBef>
                <a:spcPts val="600"/>
              </a:spcBef>
              <a:spcAft>
                <a:spcPts val="600"/>
              </a:spcAft>
              <a:buNone/>
            </a:pPr>
            <a:r>
              <a:rPr lang="en-US" sz="1400" b="1" dirty="0"/>
              <a:t>6. Generative Image Integration</a:t>
            </a:r>
            <a:r>
              <a:rPr lang="en-US" sz="1400" dirty="0"/>
              <a:t> Combine text copy generation with AI image generation tools like Microsoft Designer or DALL-E to produce complete social media posts — both caption and visual — from a single product data input, creating a fully automated end-to-end content production pipeline.</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287</TotalTime>
  <Words>2279</Words>
  <Application>Microsoft Office PowerPoint</Application>
  <PresentationFormat>On-screen Show (16:9)</PresentationFormat>
  <Paragraphs>98</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Lato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sanchi Mittal</cp:lastModifiedBy>
  <cp:revision>24</cp:revision>
  <dcterms:created xsi:type="dcterms:W3CDTF">2026-02-18T09:17:23Z</dcterms:created>
  <dcterms:modified xsi:type="dcterms:W3CDTF">2026-04-12T21:59:48Z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