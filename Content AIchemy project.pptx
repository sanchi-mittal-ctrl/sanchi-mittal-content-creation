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71" r:id="rId6"/>
    <p:sldId id="261" r:id="rId7"/>
    <p:sldId id="262" r:id="rId8"/>
    <p:sldId id="263" r:id="rId9"/>
    <p:sldId id="264" r:id="rId10"/>
    <p:sldId id="273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91" y="9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15C7-FB28-CF36-D258-3A4A5C6C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1EFEB-82CA-D5D5-423D-3401BB857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C3929-AA7A-E9C8-10CC-23EFC96D2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6D1A9-53BD-316C-A977-7B9E6182F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6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EF4A-F52D-1B3F-96A4-0A3EE72B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F833A-A77F-C072-C623-E87EF3027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3CDD5-F7ED-D027-AD3F-3C14D5CAA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449BD-4C44-6C9A-565A-E01A1EC7D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97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Sanchi Mittal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sanchiwork28@gmail.com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Maheshwari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8C266A2-58C1-8B6A-4A77-A2C508B74763}"/>
              </a:ext>
            </a:extLst>
          </p:cNvPr>
          <p:cNvSpPr/>
          <p:nvPr/>
        </p:nvSpPr>
        <p:spPr>
          <a:xfrm>
            <a:off x="-19007" y="3367131"/>
            <a:ext cx="3604085" cy="229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Content Alchemy- Ad-copy Genius</a:t>
            </a: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D57E5D84-03E3-DE95-D7AA-0B04E662A601}"/>
              </a:ext>
            </a:extLst>
          </p:cNvPr>
          <p:cNvSpPr/>
          <p:nvPr/>
        </p:nvSpPr>
        <p:spPr>
          <a:xfrm rot="5400000">
            <a:off x="3633529" y="3304587"/>
            <a:ext cx="236624" cy="34696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39" y="1060454"/>
            <a:ext cx="564205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/>
              <a:t>The bot is a Microsoft Copilot Studio-powered chatbot that automates marketing content generation for Amazon India sellers. Using the Amazon India 2025 Sales Dataset, the bot collects 9 structured inputs and instantly generates an Instagram caption, sentiment analysis, regional language adaptation, competitor positioning, and multi-platform copy — reducing manual content creation from hours to seconds.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/>
              <a:t>Tools:</a:t>
            </a:r>
            <a:r>
              <a:rPr lang="en-IN" dirty="0"/>
              <a:t> Microsoft Copilot Studio · Power BI · Structured Prompt Engineering · Amazon India 2025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/>
              <a:t>Key Result:</a:t>
            </a:r>
            <a:r>
              <a:rPr lang="en-IN" dirty="0"/>
              <a:t> Structured prompts scored 4.6/5 vs 2.3/5 for generic prompts — a 100%+ improvement across 4 KPIs.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506" y="676639"/>
            <a:ext cx="3431969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45120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0623" y="955196"/>
            <a:ext cx="567453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1. Time-Intensive Manual Process</a:t>
            </a:r>
            <a:r>
              <a:rPr lang="en-US" sz="1600" dirty="0"/>
              <a:t> Writing one Instagram ad caption manually takes 2–3 hours. Sellers with hundreds of products simply cannot do this at scale.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2. Generic, Unconvincing Copy</a:t>
            </a:r>
            <a:r>
              <a:rPr lang="en-US" sz="1600" dirty="0"/>
              <a:t> Sellers write copy like "Buy our amazing product now!" — ignoring the most powerful asset they already have: real customer reviews.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3. Zero Localization</a:t>
            </a:r>
            <a:r>
              <a:rPr lang="en-US" sz="1600" dirty="0"/>
              <a:t> India has 22+ regional languages. Sellers use the same English copy for customers in Maharashtra, Tamil Nadu, and West Bengal — losing hyperlocal relevance entirely.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4. No Intelligent Routing</a:t>
            </a:r>
            <a:r>
              <a:rPr lang="en-US" sz="1600" dirty="0"/>
              <a:t> Sellers have no system to distinguish between a 5-star product ready for advertising and a 1-star returned product that should never be advertised — leading to wasted ad spend.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5BD18-276C-1893-233F-3F6B16E4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A00619C-8AF6-799F-209C-84E03A73D3C3}"/>
              </a:ext>
            </a:extLst>
          </p:cNvPr>
          <p:cNvSpPr/>
          <p:nvPr/>
        </p:nvSpPr>
        <p:spPr>
          <a:xfrm>
            <a:off x="41564" y="46191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C42202B7-2551-9BFB-46D8-72AB25386ADF}"/>
              </a:ext>
            </a:extLst>
          </p:cNvPr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A339450-073C-CE84-FF22-1C9F9A811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28245"/>
            <a:ext cx="6406737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031E3-D724-4643-2675-B885DD44B0BF}"/>
              </a:ext>
            </a:extLst>
          </p:cNvPr>
          <p:cNvSpPr txBox="1"/>
          <p:nvPr/>
        </p:nvSpPr>
        <p:spPr>
          <a:xfrm>
            <a:off x="125487" y="1021910"/>
            <a:ext cx="7745526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/>
              <a:t>Microsoft Copilot Studio</a:t>
            </a:r>
            <a:r>
              <a:rPr lang="en-IN" dirty="0"/>
              <a:t> serves as the core engine — a 9-question chatbot that collects product name, category, state, price, rating, review, delivery status, competitor details, and platform choice.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/>
              <a:t>Structured Prompt Engineering</a:t>
            </a:r>
            <a:r>
              <a:rPr lang="en-IN" dirty="0"/>
              <a:t> converts raw inputs into professional marketing copy — outperforming generic prompts by 100%+ across all 4 KPIs.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/>
              <a:t>Intelligent Condition Logic</a:t>
            </a:r>
            <a:r>
              <a:rPr lang="en-IN" dirty="0"/>
              <a:t> routes the flow automatically: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Rating ≤ 2 or Returned → Seller Alert (block ads, suggest improvements)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Rating 3–5 + Delivered → Generate full content pack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IN" b="1" dirty="0"/>
              <a:t>5 Outputs in One Interaction:</a:t>
            </a:r>
            <a:r>
              <a:rPr lang="en-IN" dirty="0"/>
              <a:t> Instagram Caption · Sentiment Analysis · Regional Language Caption · Competitor Positioning · Multi-Platform Copy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60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66045" y="104127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60805" y="1032888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7976" y="107704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496" y="171979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2352" y="1047384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10728" y="104368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0877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87008" y="296475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87B15F-6E04-DB8B-4F88-943F29AF14E6}"/>
              </a:ext>
            </a:extLst>
          </p:cNvPr>
          <p:cNvSpPr txBox="1"/>
          <p:nvPr/>
        </p:nvSpPr>
        <p:spPr>
          <a:xfrm>
            <a:off x="266045" y="1425318"/>
            <a:ext cx="3840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 Amazon India 2025 Sales Dataset — 15,000 rows, 14 columns including Product Name, Category, State, Unit Price, Rating, Review Text, and Delivery Status.</a:t>
            </a:r>
            <a:endParaRPr lang="en-IN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F96A14-C0E2-B3D3-41B1-7F8749D2CF7A}"/>
              </a:ext>
            </a:extLst>
          </p:cNvPr>
          <p:cNvSpPr txBox="1"/>
          <p:nvPr/>
        </p:nvSpPr>
        <p:spPr>
          <a:xfrm>
            <a:off x="4715968" y="1445760"/>
            <a:ext cx="4114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Dataset was Preprocessed in Excel . Power BI was used to visualize review rating distribution across Indian states, top product categories, and delivery status patterns — directly informing the bot's prompt logic and condition routing.</a:t>
            </a:r>
            <a:endParaRPr lang="en-IN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F20F8-8A9E-22C9-8A2A-8484B49D58FC}"/>
              </a:ext>
            </a:extLst>
          </p:cNvPr>
          <p:cNvSpPr/>
          <p:nvPr/>
        </p:nvSpPr>
        <p:spPr>
          <a:xfrm>
            <a:off x="155557" y="2664496"/>
            <a:ext cx="4023360" cy="361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AI/Tool Integration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4E09E-91ED-1F9A-9970-E9EA43E753B5}"/>
              </a:ext>
            </a:extLst>
          </p:cNvPr>
          <p:cNvSpPr/>
          <p:nvPr/>
        </p:nvSpPr>
        <p:spPr>
          <a:xfrm>
            <a:off x="3857553" y="2664496"/>
            <a:ext cx="303834" cy="34973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FDA386-161C-BE2E-7F93-0529E224F388}"/>
              </a:ext>
            </a:extLst>
          </p:cNvPr>
          <p:cNvSpPr txBox="1"/>
          <p:nvPr/>
        </p:nvSpPr>
        <p:spPr>
          <a:xfrm>
            <a:off x="138027" y="3112154"/>
            <a:ext cx="40233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Core Engine:</a:t>
            </a:r>
            <a:r>
              <a:rPr lang="en-IN" sz="1400" dirty="0"/>
              <a:t> Used across 5 stages: Idea generation → Reference content gathering → Chatbot topic flow building → </a:t>
            </a:r>
            <a:r>
              <a:rPr lang="en-IN" sz="1400" dirty="0" err="1"/>
              <a:t>PowerFx</a:t>
            </a:r>
            <a:r>
              <a:rPr lang="en-IN" sz="1400" dirty="0"/>
              <a:t> condition formula support → Report writing and documentation.</a:t>
            </a:r>
          </a:p>
          <a:p>
            <a:pPr>
              <a:buNone/>
            </a:pPr>
            <a:r>
              <a:rPr lang="en-IN" sz="1400" b="1" dirty="0"/>
              <a:t>Bot Workflow:</a:t>
            </a:r>
            <a:r>
              <a:rPr lang="en-IN" sz="1400" dirty="0"/>
              <a:t> Trigger → 9 Questions → Condition Check (Rating/Delivery) → AI Prompt Node → 5 Outputs delivered in one message.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D3340A-167F-43ED-8722-3A4CA38DC165}"/>
              </a:ext>
            </a:extLst>
          </p:cNvPr>
          <p:cNvSpPr/>
          <p:nvPr/>
        </p:nvSpPr>
        <p:spPr>
          <a:xfrm>
            <a:off x="4651947" y="2659432"/>
            <a:ext cx="4034019" cy="3617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514766-DA31-6869-6608-17E449393CE2}"/>
              </a:ext>
            </a:extLst>
          </p:cNvPr>
          <p:cNvSpPr/>
          <p:nvPr/>
        </p:nvSpPr>
        <p:spPr>
          <a:xfrm>
            <a:off x="8420847" y="2664497"/>
            <a:ext cx="329140" cy="34193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BCE201-1396-2AF9-3361-0DF27DEFA83B}"/>
              </a:ext>
            </a:extLst>
          </p:cNvPr>
          <p:cNvSpPr txBox="1"/>
          <p:nvPr/>
        </p:nvSpPr>
        <p:spPr>
          <a:xfrm>
            <a:off x="4627212" y="3127543"/>
            <a:ext cx="4177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Instagram caption with social proof and CTA · Sentiment breakdown (praised / concern / overall) · Regional language version auto-detected by state · Competitor positioning caption · WhatsApp status + Amazon description.</a:t>
            </a:r>
            <a:endParaRPr lang="en-IN" sz="160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5176" y="223403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4116" y="225901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58483" y="2234038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24899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14D80-82AB-BC26-756C-9B648215B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9" y="2733194"/>
            <a:ext cx="2514599" cy="20155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EA3EFF-E22E-B592-8B2D-239C13D2D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503" y="2645518"/>
            <a:ext cx="2514599" cy="20179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E0F08F9-86DF-9264-CE37-3B415753BD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872" y="2571750"/>
            <a:ext cx="2426208" cy="20916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C5DED-F824-2670-3E4A-94C84F549131}"/>
              </a:ext>
            </a:extLst>
          </p:cNvPr>
          <p:cNvSpPr txBox="1"/>
          <p:nvPr/>
        </p:nvSpPr>
        <p:spPr>
          <a:xfrm>
            <a:off x="228378" y="1046378"/>
            <a:ext cx="498310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AI-Driven </a:t>
            </a:r>
            <a:r>
              <a:rPr lang="en-US" sz="1400" dirty="0" err="1"/>
              <a:t>AdCopy</a:t>
            </a:r>
            <a:r>
              <a:rPr lang="en-US" sz="1400" dirty="0"/>
              <a:t> Genius successfully solved the real operational problem of generic, time-consuming marketing copy generation for Amazon India sellers — delivering a complete, data-driven, AI-powered solution in one guided workflow.</a:t>
            </a:r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r>
              <a:rPr lang="en-IN" sz="1400" b="1" dirty="0"/>
              <a:t>Key Findings: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Structured prompts dramatically outperform generic prompts across all 4 KPIs — Contextual Accuracy, Sentiment Alignment, CTA Strength, and Personalization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Personalization had the biggest score gap— proving regional data is the single most impactful variable in Indian e-commerce marketing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The Seller Alert system adds intelligent business judgment — not just content automation — to the seller's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Microsoft Copilot Studio enabled a no-code, enterprise-grade chatbot accessible to any seller without technical expertise</a:t>
            </a:r>
          </a:p>
          <a:p>
            <a:endParaRPr lang="en-IN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76ED-B619-C8FD-B845-2FECE406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21FD20F-C7AA-0FBC-C981-34DAC9F12057}"/>
              </a:ext>
            </a:extLst>
          </p:cNvPr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B9E89B-2694-CA33-EAA3-08DC3175EA71}"/>
              </a:ext>
            </a:extLst>
          </p:cNvPr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6EFF55-5D2F-81FB-C803-2D96E9DFE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34FB07-61C6-12A1-19B5-AFA82A1FBEED}"/>
              </a:ext>
            </a:extLst>
          </p:cNvPr>
          <p:cNvSpPr txBox="1"/>
          <p:nvPr/>
        </p:nvSpPr>
        <p:spPr>
          <a:xfrm>
            <a:off x="123247" y="1307840"/>
            <a:ext cx="51340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/>
              <a:t>1. Amazon Seller API Integration</a:t>
            </a:r>
            <a:r>
              <a:rPr lang="en-US" sz="1400" dirty="0"/>
              <a:t> Pull product data automatically from the seller's Amazon account — eliminating all manual input and enabling bulk content generation for entire catalogues.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/>
              <a:t>2. AI Image Prompt Generator</a:t>
            </a:r>
            <a:r>
              <a:rPr lang="en-US" sz="1400" dirty="0"/>
              <a:t> Pair the caption with a DALL-E or Microsoft Designer prompt — producing both text and visual content from a single seller input.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/>
              <a:t>3. Real-Time Sentiment Tracker (Power BI)</a:t>
            </a:r>
            <a:r>
              <a:rPr lang="en-US" sz="1400" dirty="0"/>
              <a:t> Monitor how review sentiments shift over time and auto-suggest updated prompt templates when negative trends are detected.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/>
              <a:t>4. WhatsApp Business API Integration</a:t>
            </a:r>
            <a:r>
              <a:rPr lang="en-US" sz="1400" dirty="0"/>
              <a:t> Allow sellers to generate ad copy directly from WhatsApp — no desktop or technical knowledge needed.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680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904</Words>
  <Application>Microsoft Office PowerPoint</Application>
  <PresentationFormat>On-screen Show (16:9)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sanchi Mittal</cp:lastModifiedBy>
  <cp:revision>30</cp:revision>
  <dcterms:created xsi:type="dcterms:W3CDTF">2026-02-18T09:17:23Z</dcterms:created>
  <dcterms:modified xsi:type="dcterms:W3CDTF">2026-04-19T11:43:12Z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